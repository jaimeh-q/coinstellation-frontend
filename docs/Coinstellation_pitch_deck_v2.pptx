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7" d="100"/>
          <a:sy n="47" d="100"/>
        </p:scale>
        <p:origin x="840"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89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a todos. Soy parte del equipo de Coinstellation. En pocas palabras: construimos webstores para servidores y juegos. Una forma más simple y económica de que los creadores moneticen sus comunidades. En los próximos minutos quiero mostrarles por qué creemos que hay una oportunidad real aquí, y por qué Stellar es la infraestructura adecuada para hacerla posible.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lo más importante: el mercado ya existe. Tebex, la plataforma de referencia en webstores para servidores de juegos, procesa aproximadamente 200 millones de dólares al año, según Evervault. Esto significa que no estamos intentando crear un mercado nuevo ni convencer a nadie de que necesita una webstore. Ya hay creadores vendiendo, ya hay jugadores comprando, y ya hay una actividad económica importante alrededor de este modelo.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el modelo ya está validado. Un juego crea una comunidad, esa comunidad compra a través de una webstore, y eso genera ingresos para el creador. Los creadores ya entienden este flujo. Saben qué es una webstore y para qué sirve. Tebex ya demostró que funciona y que los creadores están dispuestos a usar una plataforma externa para monetizar.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punto donde podemos competir: las comisiones. Tebex cobra aproximadamente un 5% por venta. Coinstellation cobraría un 1%, más 10 centavos por transacción, que corresponden al costo de la red Stellar. Esa es la propuesta: competir principalmente mediante costos.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Veámoslo con un ejemplo ilustrativo, no con una predicción. Una venta de 100 dólares. Con Tebex, el creador paga alrededor de 5 dólares de comisión. Con Coinstellation, paga 1 dólar más el costo de la transacción en la red. En cada venta, el creador conserva una parte mayor de lo que vende. Multiplicado por todas las ventas de una comunidad, esa diferencia se vuelve evidente.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 posible esta estructura? Stellar. Stellar permite transacciones de costo extremadamente bajo. Eso reduce nuestros costos de infraestructura, y eso nos permite ofrecer comisiones más competitivas. Quiero ser claro: Stellar no es el producto que estamos vendiendo. Es la infraestructura que nos permite construir esta propuesta económica.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nos lleva a una posible ventaja de onboarding. No le pedimos a un creador que adopte un concepto completamente nuevo. Le ofrecemos algo que ya conoce, con costos menores. La misma idea, con costos mucho menores. Eso puede reducir la fricción para probar el producto. No es una garantía de adopción, pero sí una propuesta fácil de entender para quien ya conoce este modelo. No necesitamos crear un nuevo mercado: podemos ofrecer una alternativa a uno que ya funciona.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Coinstellation está diseñado para escalar. Podemos comenzar en un ecosistema concreto, como Minecraft, y expandirnos progresivamente a otros juegos, servidores y comunidades, hasta el ecosistema gaming en general. La plataforma no depende de un único juego: se construye una vez y se adapta a muchos.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significa esto para Stellar? Coinstellation puede llevar la infraestructura de Stellar a un sector donde ya existe actividad económica: el comercio digital dentro del gaming. Cada nuevo merchant que se une a Coinstellation puede convertirse en una nueva oportunidad de uso de Stellar. No es una garantía, pero sí una vía concreta para que la red llegue a un mercado real que ya está en movimiento.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nuestros anchors: Cosmos Pay y Abroad. Son las piezas que conectan Stellar con el dinero real. Cosmos Pay es con quien procesamos los pagos de cada webstore sobre Stellar. Abroad se encarga específicamente de los pagos locales: permite que un jugador pague con los métodos de su país, como Pix en Brasil o Bre-B en Colombia. Nosotros nos enfocamos en construir la webstore; los anchors mueven el dinero.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7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salimos al mercado? De forma simple: empezamos donde ya nos conocen. Somos miembros reconocidos de varias comunidades de servidores y creadores, así que nuestra estrategia es publicitarnos ahí primero. No llegamos como desconocidos: ya existe confianza, lo que baja mucho el costo de conseguir los primeros creadores. Y cada creador que adopta Coinstellation puede traer a otros por boca a boca.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7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Pongamos números posibles, con supuestos explícitos. Tebex tiene alrededor de 30.000 creadores y procesa unos 200 millones de dólares al año, lo que da cerca de 6.700 dólares de ventas anuales por creador. Si en el primer año capturamos el 1% de esos creadores, unos 300, estaríamos procesando alrededor de 2 millones de dólares en ventas, 20 mil dólares en comisiones para nosotros, y unas 100 mil transacciones en Stellar con un ticket promedio de 20 dólares. El escenario conservador es la mitad, el optimista el triple. No es una predicción: es un orden de magnitud para dimensionar la oportunidad. Y lo más relevante para Stellar es el volumen: cada venta es una transacción en la 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7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0A1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32000"/>
                </a:srgbClr>
              </a:gs>
              <a:gs pos="100000">
                <a:srgbClr val="F2F7F7">
                  <a:alpha val="0"/>
                </a:srgbClr>
              </a:gs>
            </a:gsLst>
            <a:path path="circle">
              <a:fillToRect l="30300" t="51300" r="69700" b="48700"/>
            </a:path>
          </a:gradFill>
          <a:ln/>
        </p:spPr>
        <p:txBody>
          <a:bodyPr/>
          <a:lstStyle/>
          <a:p>
            <a:endParaRPr lang="es-AR"/>
          </a:p>
        </p:txBody>
      </p:sp>
      <p:sp>
        <p:nvSpPr>
          <p:cNvPr id="3" name="Shape 1"/>
          <p:cNvSpPr/>
          <p:nvPr/>
        </p:nvSpPr>
        <p:spPr>
          <a:xfrm>
            <a:off x="8096250" y="6191250"/>
            <a:ext cx="26708100" cy="20574000"/>
          </a:xfrm>
          <a:prstGeom prst="ellipse">
            <a:avLst/>
          </a:prstGeom>
          <a:gradFill rotWithShape="1">
            <a:gsLst>
              <a:gs pos="0">
                <a:srgbClr val="0A3038">
                  <a:alpha val="100000"/>
                </a:srgbClr>
              </a:gs>
              <a:gs pos="30000">
                <a:srgbClr val="04161F">
                  <a:alpha val="100000"/>
                </a:srgbClr>
              </a:gs>
              <a:gs pos="60000">
                <a:srgbClr val="020B14">
                  <a:alpha val="100000"/>
                </a:srgbClr>
              </a:gs>
            </a:gsLst>
            <a:path path="circle">
              <a:fillToRect l="50000" r="50000" b="100000"/>
            </a:path>
          </a:gradFill>
          <a:ln w="19050">
            <a:solidFill>
              <a:srgbClr val="00E8C0">
                <a:alpha val="60000"/>
              </a:srgbClr>
            </a:solidFill>
            <a:prstDash val="solid"/>
          </a:ln>
          <a:effectLst>
            <a:outerShdw blurRad="1270000" dist="50800" dir="16200000" algn="bl" rotWithShape="0">
              <a:srgbClr val="00D9B5">
                <a:alpha val="25000"/>
              </a:srgbClr>
            </a:outerShdw>
          </a:effectLst>
        </p:spPr>
        <p:txBody>
          <a:bodyPr/>
          <a:lstStyle/>
          <a:p>
            <a:endParaRPr lang="es-A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58500" y="1047750"/>
            <a:ext cx="6096000" cy="3619500"/>
          </a:xfrm>
          <a:prstGeom prst="rect">
            <a:avLst/>
          </a:prstGeom>
        </p:spPr>
      </p:pic>
      <p:sp>
        <p:nvSpPr>
          <p:cNvPr id="5" name="Shape 2"/>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6" name="Shape 3"/>
          <p:cNvSpPr/>
          <p:nvPr/>
        </p:nvSpPr>
        <p:spPr>
          <a:xfrm>
            <a:off x="1714500" y="1087755"/>
            <a:ext cx="1295400" cy="19050"/>
          </a:xfrm>
          <a:prstGeom prst="rect">
            <a:avLst/>
          </a:prstGeom>
          <a:solidFill>
            <a:srgbClr val="234052"/>
          </a:solidFill>
          <a:ln/>
        </p:spPr>
        <p:txBody>
          <a:bodyPr/>
          <a:lstStyle/>
          <a:p>
            <a:endParaRPr lang="es-AR"/>
          </a:p>
        </p:txBody>
      </p:sp>
      <p:sp>
        <p:nvSpPr>
          <p:cNvPr id="7" name="Text 4"/>
          <p:cNvSpPr/>
          <p:nvPr/>
        </p:nvSpPr>
        <p:spPr>
          <a:xfrm>
            <a:off x="3276600" y="952500"/>
            <a:ext cx="2474917"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01 — MERCADO</a:t>
            </a:r>
            <a:endParaRPr lang="en-US" sz="1800" dirty="0"/>
          </a:p>
        </p:txBody>
      </p:sp>
      <p:sp>
        <p:nvSpPr>
          <p:cNvPr id="8" name="Text 5"/>
          <p:cNvSpPr/>
          <p:nvPr/>
        </p:nvSpPr>
        <p:spPr>
          <a:xfrm>
            <a:off x="1104900" y="1508760"/>
            <a:ext cx="5779978"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mercado </a:t>
            </a:r>
            <a:r>
              <a:rPr lang="en-US" sz="4800" b="1" kern="0" spc="-144" dirty="0" err="1">
                <a:solidFill>
                  <a:srgbClr val="00E8C0"/>
                </a:solidFill>
                <a:latin typeface="Outfit" pitchFamily="34" charset="0"/>
                <a:ea typeface="Outfit" pitchFamily="34" charset="-122"/>
                <a:cs typeface="Outfit" pitchFamily="34" charset="-120"/>
              </a:rPr>
              <a:t>ya</a:t>
            </a:r>
            <a:r>
              <a:rPr lang="en-US" sz="4800" b="1" kern="0" spc="-144" dirty="0">
                <a:solidFill>
                  <a:srgbClr val="00E8C0"/>
                </a:solidFill>
                <a:latin typeface="Outfit" pitchFamily="34" charset="0"/>
                <a:ea typeface="Outfit" pitchFamily="34" charset="-122"/>
                <a:cs typeface="Outfit" pitchFamily="34" charset="-120"/>
              </a:rPr>
              <a:t> existe</a:t>
            </a:r>
            <a:endParaRPr lang="en-US" sz="4800" dirty="0"/>
          </a:p>
        </p:txBody>
      </p:sp>
      <p:sp>
        <p:nvSpPr>
          <p:cNvPr id="9" name="Text 6"/>
          <p:cNvSpPr/>
          <p:nvPr/>
        </p:nvSpPr>
        <p:spPr>
          <a:xfrm>
            <a:off x="1028700" y="4709160"/>
            <a:ext cx="14728877" cy="3630930"/>
          </a:xfrm>
          <a:prstGeom prst="rect">
            <a:avLst/>
          </a:prstGeom>
          <a:noFill/>
          <a:ln/>
        </p:spPr>
        <p:txBody>
          <a:bodyPr wrap="square" lIns="25400" tIns="25400" rIns="25400" bIns="25400" rtlCol="0" anchor="t">
            <a:normAutofit lnSpcReduction="10000"/>
          </a:bodyPr>
          <a:lstStyle/>
          <a:p>
            <a:pPr marL="0" indent="0" algn="l">
              <a:lnSpc>
                <a:spcPct val="65079"/>
              </a:lnSpc>
              <a:buNone/>
            </a:pPr>
            <a:r>
              <a:rPr lang="en-US" sz="34500" b="1" kern="0" spc="-2000" dirty="0">
                <a:solidFill>
                  <a:srgbClr val="00D9B5"/>
                </a:solidFill>
                <a:latin typeface="Outfit" pitchFamily="34" charset="0"/>
                <a:ea typeface="Outfit" pitchFamily="34" charset="-122"/>
                <a:cs typeface="Outfit" pitchFamily="34" charset="-120"/>
              </a:rPr>
              <a:t>$200M</a:t>
            </a:r>
            <a:endParaRPr lang="en-US" sz="34500" dirty="0"/>
          </a:p>
        </p:txBody>
      </p:sp>
      <p:sp>
        <p:nvSpPr>
          <p:cNvPr id="10" name="Text 7"/>
          <p:cNvSpPr/>
          <p:nvPr/>
        </p:nvSpPr>
        <p:spPr>
          <a:xfrm>
            <a:off x="1143000" y="8568690"/>
            <a:ext cx="6226189" cy="613410"/>
          </a:xfrm>
          <a:prstGeom prst="rect">
            <a:avLst/>
          </a:prstGeom>
          <a:noFill/>
          <a:ln/>
        </p:spPr>
        <p:txBody>
          <a:bodyPr wrap="square" lIns="25400" tIns="25400" rIns="25400" bIns="25400" rtlCol="0" anchor="t">
            <a:normAutofit/>
          </a:bodyPr>
          <a:lstStyle/>
          <a:p>
            <a:pPr marL="0" indent="0" algn="l">
              <a:buNone/>
            </a:pPr>
            <a:r>
              <a:rPr lang="en-US" sz="3600" kern="0" spc="-36" dirty="0">
                <a:solidFill>
                  <a:srgbClr val="F2F7F7"/>
                </a:solidFill>
                <a:latin typeface="Outfit" pitchFamily="34" charset="0"/>
                <a:ea typeface="Outfit" pitchFamily="34" charset="-122"/>
                <a:cs typeface="Outfit" pitchFamily="34" charset="-120"/>
              </a:rPr>
              <a:t>Procesados por Tebex al año</a:t>
            </a:r>
            <a:endParaRPr lang="en-US" sz="3600" dirty="0"/>
          </a:p>
        </p:txBody>
      </p:sp>
      <p:sp>
        <p:nvSpPr>
          <p:cNvPr id="11" name="Text 8"/>
          <p:cNvSpPr/>
          <p:nvPr/>
        </p:nvSpPr>
        <p:spPr>
          <a:xfrm>
            <a:off x="7260372" y="8797290"/>
            <a:ext cx="1940695" cy="327660"/>
          </a:xfrm>
          <a:prstGeom prst="rect">
            <a:avLst/>
          </a:prstGeom>
          <a:noFill/>
          <a:ln/>
        </p:spPr>
        <p:txBody>
          <a:bodyPr wrap="square" lIns="25400" tIns="25400" rIns="25400" bIns="25400" rtlCol="0" anchor="t">
            <a:normAutofit/>
          </a:bodyPr>
          <a:lstStyle/>
          <a:p>
            <a:pPr marL="0" indent="0" algn="l">
              <a:buNone/>
            </a:pPr>
            <a:r>
              <a:rPr lang="en-US" sz="1800" dirty="0">
                <a:solidFill>
                  <a:srgbClr val="667982"/>
                </a:solidFill>
                <a:latin typeface="Outfit" pitchFamily="34" charset="0"/>
                <a:ea typeface="Outfit" pitchFamily="34" charset="-122"/>
                <a:cs typeface="Outfit" pitchFamily="34" charset="-120"/>
              </a:rPr>
              <a:t>Fuente: Evervault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71000"/>
                </a:srgbClr>
              </a:gs>
              <a:gs pos="100000">
                <a:srgbClr val="F2F7F7">
                  <a:alpha val="0"/>
                </a:srgbClr>
              </a:gs>
            </a:gsLst>
            <a:path path="circle">
              <a:fillToRect l="8400" t="86000" r="91600" b="140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296603"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02 — MODELO</a:t>
            </a:r>
            <a:endParaRPr lang="en-US" sz="1800" dirty="0"/>
          </a:p>
        </p:txBody>
      </p:sp>
      <p:sp>
        <p:nvSpPr>
          <p:cNvPr id="6" name="Text 4"/>
          <p:cNvSpPr/>
          <p:nvPr/>
        </p:nvSpPr>
        <p:spPr>
          <a:xfrm>
            <a:off x="1104900" y="1508760"/>
            <a:ext cx="12468749" cy="970776"/>
          </a:xfrm>
          <a:prstGeom prst="rect">
            <a:avLst/>
          </a:prstGeom>
          <a:noFill/>
          <a:ln/>
        </p:spPr>
        <p:txBody>
          <a:bodyPr wrap="square" lIns="25400" tIns="25400" rIns="25400" bIns="25400" rtlCol="0" anchor="t">
            <a:normAutofit/>
          </a:bodyPr>
          <a:lstStyle/>
          <a:p>
            <a:pPr marL="0" indent="0" algn="l">
              <a:lnSpc>
                <a:spcPct val="81060"/>
              </a:lnSpc>
              <a:buNone/>
            </a:pPr>
            <a:r>
              <a:rPr lang="en-US" sz="7200" b="1" kern="0" spc="-252" dirty="0">
                <a:solidFill>
                  <a:srgbClr val="F2F7F7"/>
                </a:solidFill>
                <a:latin typeface="Outfit" pitchFamily="34" charset="0"/>
                <a:ea typeface="Outfit" pitchFamily="34" charset="-122"/>
                <a:cs typeface="Outfit" pitchFamily="34" charset="-120"/>
              </a:rPr>
              <a:t>Tebex </a:t>
            </a:r>
            <a:r>
              <a:rPr lang="en-US" sz="7200" b="1" kern="0" spc="-252" dirty="0" err="1">
                <a:solidFill>
                  <a:srgbClr val="F2F7F7"/>
                </a:solidFill>
                <a:latin typeface="Outfit" pitchFamily="34" charset="0"/>
                <a:ea typeface="Outfit" pitchFamily="34" charset="-122"/>
                <a:cs typeface="Outfit" pitchFamily="34" charset="-120"/>
              </a:rPr>
              <a:t>ya</a:t>
            </a:r>
            <a:r>
              <a:rPr lang="en-US" sz="7200" b="1" kern="0" spc="-252" dirty="0">
                <a:solidFill>
                  <a:srgbClr val="F2F7F7"/>
                </a:solidFill>
                <a:latin typeface="Outfit" pitchFamily="34" charset="0"/>
                <a:ea typeface="Outfit" pitchFamily="34" charset="-122"/>
                <a:cs typeface="Outfit" pitchFamily="34" charset="-120"/>
              </a:rPr>
              <a:t> </a:t>
            </a:r>
            <a:r>
              <a:rPr lang="en-US" sz="7200" b="1" kern="0" spc="-252" dirty="0" err="1">
                <a:solidFill>
                  <a:srgbClr val="F2F7F7"/>
                </a:solidFill>
                <a:latin typeface="Outfit" pitchFamily="34" charset="0"/>
                <a:ea typeface="Outfit" pitchFamily="34" charset="-122"/>
                <a:cs typeface="Outfit" pitchFamily="34" charset="-120"/>
              </a:rPr>
              <a:t>demostró</a:t>
            </a:r>
            <a:r>
              <a:rPr lang="en-US" sz="7200" b="1" kern="0" spc="-252" dirty="0">
                <a:solidFill>
                  <a:srgbClr val="F2F7F7"/>
                </a:solidFill>
                <a:latin typeface="Outfit" pitchFamily="34" charset="0"/>
                <a:ea typeface="Outfit" pitchFamily="34" charset="-122"/>
                <a:cs typeface="Outfit" pitchFamily="34" charset="-120"/>
              </a:rPr>
              <a:t> </a:t>
            </a:r>
            <a:r>
              <a:rPr lang="en-US" sz="7200" b="1" kern="0" spc="-252" dirty="0">
                <a:solidFill>
                  <a:srgbClr val="00E8C0"/>
                </a:solidFill>
                <a:latin typeface="Outfit" pitchFamily="34" charset="0"/>
                <a:ea typeface="Outfit" pitchFamily="34" charset="-122"/>
                <a:cs typeface="Outfit" pitchFamily="34" charset="-120"/>
              </a:rPr>
              <a:t>el modelo.</a:t>
            </a:r>
            <a:endParaRPr lang="en-US" sz="7200" dirty="0"/>
          </a:p>
        </p:txBody>
      </p:sp>
      <p:sp>
        <p:nvSpPr>
          <p:cNvPr id="7" name="Shape 5"/>
          <p:cNvSpPr/>
          <p:nvPr/>
        </p:nvSpPr>
        <p:spPr>
          <a:xfrm>
            <a:off x="1104900" y="7098030"/>
            <a:ext cx="16078200" cy="9525"/>
          </a:xfrm>
          <a:prstGeom prst="rect">
            <a:avLst/>
          </a:prstGeom>
          <a:solidFill>
            <a:srgbClr val="3A6672"/>
          </a:solidFill>
          <a:ln/>
        </p:spPr>
        <p:txBody>
          <a:bodyPr/>
          <a:lstStyle/>
          <a:p>
            <a:endParaRPr lang="es-AR"/>
          </a:p>
        </p:txBody>
      </p:sp>
      <p:sp>
        <p:nvSpPr>
          <p:cNvPr id="8" name="Shape 6"/>
          <p:cNvSpPr/>
          <p:nvPr/>
        </p:nvSpPr>
        <p:spPr>
          <a:xfrm>
            <a:off x="110490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9" name="Shape 7"/>
          <p:cNvSpPr/>
          <p:nvPr/>
        </p:nvSpPr>
        <p:spPr>
          <a:xfrm>
            <a:off x="1278255" y="7061835"/>
            <a:ext cx="95250" cy="95250"/>
          </a:xfrm>
          <a:prstGeom prst="ellipse">
            <a:avLst/>
          </a:prstGeom>
          <a:solidFill>
            <a:srgbClr val="A9B8BE"/>
          </a:solidFill>
          <a:ln/>
        </p:spPr>
        <p:txBody>
          <a:bodyPr/>
          <a:lstStyle/>
          <a:p>
            <a:endParaRPr lang="es-AR"/>
          </a:p>
        </p:txBody>
      </p:sp>
      <p:sp>
        <p:nvSpPr>
          <p:cNvPr id="10" name="Text 8"/>
          <p:cNvSpPr/>
          <p:nvPr/>
        </p:nvSpPr>
        <p:spPr>
          <a:xfrm>
            <a:off x="110490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Juego</a:t>
            </a:r>
            <a:endParaRPr lang="en-US" sz="4200" dirty="0"/>
          </a:p>
        </p:txBody>
      </p:sp>
      <p:sp>
        <p:nvSpPr>
          <p:cNvPr id="11" name="Shape 9"/>
          <p:cNvSpPr/>
          <p:nvPr/>
        </p:nvSpPr>
        <p:spPr>
          <a:xfrm>
            <a:off x="512445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12" name="Shape 10"/>
          <p:cNvSpPr/>
          <p:nvPr/>
        </p:nvSpPr>
        <p:spPr>
          <a:xfrm>
            <a:off x="5297805" y="7061835"/>
            <a:ext cx="95250" cy="95250"/>
          </a:xfrm>
          <a:prstGeom prst="ellipse">
            <a:avLst/>
          </a:prstGeom>
          <a:solidFill>
            <a:srgbClr val="A9B8BE"/>
          </a:solidFill>
          <a:ln/>
        </p:spPr>
        <p:txBody>
          <a:bodyPr/>
          <a:lstStyle/>
          <a:p>
            <a:endParaRPr lang="es-AR"/>
          </a:p>
        </p:txBody>
      </p:sp>
      <p:sp>
        <p:nvSpPr>
          <p:cNvPr id="13" name="Text 11"/>
          <p:cNvSpPr/>
          <p:nvPr/>
        </p:nvSpPr>
        <p:spPr>
          <a:xfrm>
            <a:off x="512445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Comunidad</a:t>
            </a:r>
            <a:endParaRPr lang="en-US" sz="4200" dirty="0"/>
          </a:p>
        </p:txBody>
      </p:sp>
      <p:sp>
        <p:nvSpPr>
          <p:cNvPr id="14" name="Shape 12"/>
          <p:cNvSpPr/>
          <p:nvPr/>
        </p:nvSpPr>
        <p:spPr>
          <a:xfrm>
            <a:off x="914400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15" name="Shape 13"/>
          <p:cNvSpPr/>
          <p:nvPr/>
        </p:nvSpPr>
        <p:spPr>
          <a:xfrm>
            <a:off x="9317355" y="7061835"/>
            <a:ext cx="95250" cy="95250"/>
          </a:xfrm>
          <a:prstGeom prst="ellipse">
            <a:avLst/>
          </a:prstGeom>
          <a:solidFill>
            <a:srgbClr val="A9B8BE"/>
          </a:solidFill>
          <a:ln/>
        </p:spPr>
        <p:txBody>
          <a:bodyPr/>
          <a:lstStyle/>
          <a:p>
            <a:endParaRPr lang="es-AR"/>
          </a:p>
        </p:txBody>
      </p:sp>
      <p:sp>
        <p:nvSpPr>
          <p:cNvPr id="16" name="Text 14"/>
          <p:cNvSpPr/>
          <p:nvPr/>
        </p:nvSpPr>
        <p:spPr>
          <a:xfrm>
            <a:off x="914400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Webstore</a:t>
            </a:r>
            <a:endParaRPr lang="en-US" sz="4200" dirty="0"/>
          </a:p>
        </p:txBody>
      </p:sp>
      <p:sp>
        <p:nvSpPr>
          <p:cNvPr id="17" name="Shape 15"/>
          <p:cNvSpPr/>
          <p:nvPr/>
        </p:nvSpPr>
        <p:spPr>
          <a:xfrm>
            <a:off x="13163550" y="6888480"/>
            <a:ext cx="441960" cy="441960"/>
          </a:xfrm>
          <a:prstGeom prst="ellipse">
            <a:avLst/>
          </a:prstGeom>
          <a:solidFill>
            <a:srgbClr val="0B1826"/>
          </a:solidFill>
          <a:ln w="11430">
            <a:solidFill>
              <a:srgbClr val="00D9B5"/>
            </a:solidFill>
            <a:prstDash val="solid"/>
          </a:ln>
          <a:effectLst>
            <a:outerShdw blurRad="381000" dist="50800" dir="16200000" algn="bl" rotWithShape="0">
              <a:srgbClr val="00D9B5">
                <a:alpha val="35000"/>
              </a:srgbClr>
            </a:outerShdw>
          </a:effectLst>
        </p:spPr>
        <p:txBody>
          <a:bodyPr/>
          <a:lstStyle/>
          <a:p>
            <a:endParaRPr lang="es-AR"/>
          </a:p>
        </p:txBody>
      </p:sp>
      <p:sp>
        <p:nvSpPr>
          <p:cNvPr id="18" name="Shape 16"/>
          <p:cNvSpPr/>
          <p:nvPr/>
        </p:nvSpPr>
        <p:spPr>
          <a:xfrm>
            <a:off x="13317856" y="7042785"/>
            <a:ext cx="133350" cy="133350"/>
          </a:xfrm>
          <a:prstGeom prst="ellipse">
            <a:avLst/>
          </a:prstGeom>
          <a:solidFill>
            <a:srgbClr val="00D9B5"/>
          </a:solidFill>
          <a:ln/>
        </p:spPr>
        <p:txBody>
          <a:bodyPr/>
          <a:lstStyle/>
          <a:p>
            <a:endParaRPr lang="es-AR"/>
          </a:p>
        </p:txBody>
      </p:sp>
      <p:sp>
        <p:nvSpPr>
          <p:cNvPr id="19" name="Text 17"/>
          <p:cNvSpPr/>
          <p:nvPr/>
        </p:nvSpPr>
        <p:spPr>
          <a:xfrm>
            <a:off x="1316355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00D9B5"/>
                </a:solidFill>
                <a:latin typeface="Outfit" pitchFamily="34" charset="0"/>
                <a:ea typeface="Outfit" pitchFamily="34" charset="-122"/>
                <a:cs typeface="Outfit" pitchFamily="34" charset="-120"/>
              </a:rPr>
              <a:t>Ingresos</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61000"/>
                </a:srgbClr>
              </a:gs>
              <a:gs pos="100000">
                <a:srgbClr val="F2F7F7">
                  <a:alpha val="0"/>
                </a:srgbClr>
              </a:gs>
            </a:gsLst>
            <a:path path="circle">
              <a:fillToRect l="86600" t="20700" r="13400" b="793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957733"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03 — COMISIONES</a:t>
            </a:r>
            <a:endParaRPr lang="en-US" sz="1800" dirty="0"/>
          </a:p>
        </p:txBody>
      </p:sp>
      <p:sp>
        <p:nvSpPr>
          <p:cNvPr id="6" name="Text 4"/>
          <p:cNvSpPr/>
          <p:nvPr/>
        </p:nvSpPr>
        <p:spPr>
          <a:xfrm>
            <a:off x="1104900" y="1508760"/>
            <a:ext cx="7739337"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problema:</a:t>
            </a:r>
            <a:r>
              <a:rPr lang="en-US" sz="4800" b="1" kern="0" spc="-144" dirty="0">
                <a:solidFill>
                  <a:srgbClr val="00E8C0"/>
                </a:solidFill>
                <a:latin typeface="Outfit" pitchFamily="34" charset="0"/>
                <a:ea typeface="Outfit" pitchFamily="34" charset="-122"/>
                <a:cs typeface="Outfit" pitchFamily="34" charset="-120"/>
              </a:rPr>
              <a:t>las comisiones</a:t>
            </a:r>
            <a:endParaRPr lang="en-US" sz="4800" dirty="0"/>
          </a:p>
        </p:txBody>
      </p:sp>
      <p:sp>
        <p:nvSpPr>
          <p:cNvPr id="7" name="Text 5"/>
          <p:cNvSpPr/>
          <p:nvPr/>
        </p:nvSpPr>
        <p:spPr>
          <a:xfrm>
            <a:off x="1104900" y="5875020"/>
            <a:ext cx="5221266" cy="468630"/>
          </a:xfrm>
          <a:prstGeom prst="rect">
            <a:avLst/>
          </a:prstGeom>
          <a:noFill/>
          <a:ln/>
        </p:spPr>
        <p:txBody>
          <a:bodyPr wrap="square" lIns="25400" tIns="25400" rIns="25400" bIns="25400" rtlCol="0" anchor="t">
            <a:normAutofit/>
          </a:bodyPr>
          <a:lstStyle/>
          <a:p>
            <a:pPr marL="0" indent="0" algn="l">
              <a:buNone/>
            </a:pPr>
            <a:r>
              <a:rPr lang="en-US" sz="2700" dirty="0">
                <a:solidFill>
                  <a:srgbClr val="A9B8BE"/>
                </a:solidFill>
                <a:latin typeface="Outfit" pitchFamily="34" charset="0"/>
                <a:ea typeface="Outfit" pitchFamily="34" charset="-122"/>
                <a:cs typeface="Outfit" pitchFamily="34" charset="-120"/>
              </a:rPr>
              <a:t>Tebex</a:t>
            </a:r>
            <a:endParaRPr lang="en-US" sz="2700" dirty="0"/>
          </a:p>
        </p:txBody>
      </p:sp>
      <p:sp>
        <p:nvSpPr>
          <p:cNvPr id="8" name="Text 6"/>
          <p:cNvSpPr/>
          <p:nvPr/>
        </p:nvSpPr>
        <p:spPr>
          <a:xfrm>
            <a:off x="1104900" y="6610350"/>
            <a:ext cx="5221266" cy="2381250"/>
          </a:xfrm>
          <a:prstGeom prst="rect">
            <a:avLst/>
          </a:prstGeom>
          <a:noFill/>
          <a:ln/>
        </p:spPr>
        <p:txBody>
          <a:bodyPr wrap="square" lIns="25400" tIns="25400" rIns="25400" bIns="25400" rtlCol="0" anchor="t">
            <a:normAutofit lnSpcReduction="10000"/>
          </a:bodyPr>
          <a:lstStyle/>
          <a:p>
            <a:pPr marL="0" indent="0" algn="l">
              <a:lnSpc>
                <a:spcPct val="65079"/>
              </a:lnSpc>
              <a:buNone/>
            </a:pPr>
            <a:r>
              <a:rPr lang="en-US" sz="22500" b="1" kern="0" spc="-1350" dirty="0">
                <a:solidFill>
                  <a:srgbClr val="667982"/>
                </a:solidFill>
                <a:latin typeface="Outfit" pitchFamily="34" charset="0"/>
                <a:ea typeface="Outfit" pitchFamily="34" charset="-122"/>
                <a:cs typeface="Outfit" pitchFamily="34" charset="-120"/>
              </a:rPr>
              <a:t>5%</a:t>
            </a:r>
            <a:endParaRPr lang="en-US" sz="22500" dirty="0"/>
          </a:p>
        </p:txBody>
      </p:sp>
      <p:sp>
        <p:nvSpPr>
          <p:cNvPr id="9" name="Shape 7"/>
          <p:cNvSpPr/>
          <p:nvPr/>
        </p:nvSpPr>
        <p:spPr>
          <a:xfrm>
            <a:off x="6765905" y="5334000"/>
            <a:ext cx="9525" cy="3619500"/>
          </a:xfrm>
          <a:prstGeom prst="rect">
            <a:avLst/>
          </a:prstGeom>
          <a:solidFill>
            <a:srgbClr val="234052"/>
          </a:solidFill>
          <a:ln/>
        </p:spPr>
        <p:txBody>
          <a:bodyPr/>
          <a:lstStyle/>
          <a:p>
            <a:endParaRPr lang="es-AR"/>
          </a:p>
        </p:txBody>
      </p:sp>
      <p:sp>
        <p:nvSpPr>
          <p:cNvPr id="10" name="Text 8"/>
          <p:cNvSpPr/>
          <p:nvPr/>
        </p:nvSpPr>
        <p:spPr>
          <a:xfrm>
            <a:off x="7689830" y="5875020"/>
            <a:ext cx="10442597" cy="468630"/>
          </a:xfrm>
          <a:prstGeom prst="rect">
            <a:avLst/>
          </a:prstGeom>
          <a:noFill/>
          <a:ln/>
        </p:spPr>
        <p:txBody>
          <a:bodyPr wrap="square" lIns="25400" tIns="25400" rIns="25400" bIns="25400" rtlCol="0" anchor="t">
            <a:normAutofit/>
          </a:bodyPr>
          <a:lstStyle/>
          <a:p>
            <a:pPr marL="0" indent="0" algn="l">
              <a:buNone/>
            </a:pPr>
            <a:r>
              <a:rPr lang="en-US" sz="2700" dirty="0">
                <a:solidFill>
                  <a:srgbClr val="00D9B5"/>
                </a:solidFill>
                <a:latin typeface="Outfit" pitchFamily="34" charset="0"/>
                <a:ea typeface="Outfit" pitchFamily="34" charset="-122"/>
                <a:cs typeface="Outfit" pitchFamily="34" charset="-120"/>
              </a:rPr>
              <a:t>Coinstellation</a:t>
            </a:r>
            <a:endParaRPr lang="en-US" sz="2700" dirty="0"/>
          </a:p>
        </p:txBody>
      </p:sp>
      <p:sp>
        <p:nvSpPr>
          <p:cNvPr id="11" name="Text 9"/>
          <p:cNvSpPr/>
          <p:nvPr/>
        </p:nvSpPr>
        <p:spPr>
          <a:xfrm>
            <a:off x="7689830" y="6610350"/>
            <a:ext cx="2962513" cy="2381250"/>
          </a:xfrm>
          <a:prstGeom prst="rect">
            <a:avLst/>
          </a:prstGeom>
          <a:noFill/>
          <a:ln/>
        </p:spPr>
        <p:txBody>
          <a:bodyPr wrap="none" lIns="25400" tIns="25400" rIns="25400" bIns="25400" rtlCol="0" anchor="t">
            <a:normAutofit lnSpcReduction="10000"/>
          </a:bodyPr>
          <a:lstStyle/>
          <a:p>
            <a:pPr marL="0" indent="0" algn="l">
              <a:lnSpc>
                <a:spcPct val="65079"/>
              </a:lnSpc>
              <a:buNone/>
            </a:pPr>
            <a:r>
              <a:rPr lang="en-US" sz="22500" b="1" kern="0" spc="-1350" dirty="0">
                <a:solidFill>
                  <a:srgbClr val="F2F7F7"/>
                </a:solidFill>
                <a:latin typeface="Outfit" pitchFamily="34" charset="0"/>
                <a:ea typeface="Outfit" pitchFamily="34" charset="-122"/>
                <a:cs typeface="Outfit" pitchFamily="34" charset="-120"/>
              </a:rPr>
              <a:t>1%</a:t>
            </a:r>
            <a:endParaRPr lang="en-US" sz="22500" dirty="0"/>
          </a:p>
        </p:txBody>
      </p:sp>
      <p:sp>
        <p:nvSpPr>
          <p:cNvPr id="12" name="Text 10"/>
          <p:cNvSpPr/>
          <p:nvPr/>
        </p:nvSpPr>
        <p:spPr>
          <a:xfrm>
            <a:off x="10687824" y="8342514"/>
            <a:ext cx="3380696" cy="897255"/>
          </a:xfrm>
          <a:prstGeom prst="rect">
            <a:avLst/>
          </a:prstGeom>
          <a:noFill/>
          <a:ln/>
        </p:spPr>
        <p:txBody>
          <a:bodyPr wrap="none" lIns="25400" tIns="25400" rIns="25400" bIns="25400" rtlCol="0" anchor="t">
            <a:normAutofit/>
          </a:bodyPr>
          <a:lstStyle/>
          <a:p>
            <a:pPr marL="0" indent="0" algn="l">
              <a:lnSpc>
                <a:spcPct val="65173"/>
              </a:lnSpc>
              <a:buNone/>
            </a:pPr>
            <a:r>
              <a:rPr lang="en-US" sz="3600" b="1" kern="0" spc="-330" dirty="0">
                <a:solidFill>
                  <a:srgbClr val="00D9B5"/>
                </a:solidFill>
                <a:latin typeface="Outfit" pitchFamily="34" charset="0"/>
                <a:ea typeface="Outfit" pitchFamily="34" charset="-122"/>
                <a:cs typeface="Outfit" pitchFamily="34" charset="-120"/>
              </a:rPr>
              <a:t>+ $0,000005</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51000"/>
                </a:srgbClr>
              </a:gs>
              <a:gs pos="100000">
                <a:srgbClr val="F2F7F7">
                  <a:alpha val="0"/>
                </a:srgbClr>
              </a:gs>
            </a:gsLst>
            <a:path path="circle">
              <a:fillToRect l="64800" t="55400" r="35200" b="446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696188"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04 — ECONOMÍA</a:t>
            </a:r>
            <a:endParaRPr lang="en-US" sz="1800" dirty="0"/>
          </a:p>
        </p:txBody>
      </p:sp>
      <p:sp>
        <p:nvSpPr>
          <p:cNvPr id="6" name="Text 4"/>
          <p:cNvSpPr/>
          <p:nvPr/>
        </p:nvSpPr>
        <p:spPr>
          <a:xfrm>
            <a:off x="1104900" y="1508760"/>
            <a:ext cx="892702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Una economía</a:t>
            </a:r>
            <a:r>
              <a:rPr lang="en-US" sz="4800" b="1" kern="0" spc="-144" dirty="0">
                <a:solidFill>
                  <a:srgbClr val="00E8C0"/>
                </a:solidFill>
                <a:latin typeface="Outfit" pitchFamily="34" charset="0"/>
                <a:ea typeface="Outfit" pitchFamily="34" charset="-122"/>
                <a:cs typeface="Outfit" pitchFamily="34" charset="-120"/>
              </a:rPr>
              <a:t>más competitiva</a:t>
            </a:r>
            <a:endParaRPr lang="en-US" sz="4800" dirty="0"/>
          </a:p>
        </p:txBody>
      </p:sp>
      <p:sp>
        <p:nvSpPr>
          <p:cNvPr id="7" name="Text 5"/>
          <p:cNvSpPr/>
          <p:nvPr/>
        </p:nvSpPr>
        <p:spPr>
          <a:xfrm>
            <a:off x="1104900" y="3143250"/>
            <a:ext cx="8660309" cy="1371600"/>
          </a:xfrm>
          <a:prstGeom prst="rect">
            <a:avLst/>
          </a:prstGeom>
          <a:noFill/>
          <a:ln/>
        </p:spPr>
        <p:txBody>
          <a:bodyPr wrap="none" lIns="25400" tIns="25400" rIns="25400" bIns="25400" rtlCol="0" anchor="t">
            <a:normAutofit/>
          </a:bodyPr>
          <a:lstStyle/>
          <a:p>
            <a:pPr marL="0" indent="0" algn="l">
              <a:lnSpc>
                <a:spcPct val="79365"/>
              </a:lnSpc>
              <a:buNone/>
            </a:pPr>
            <a:r>
              <a:rPr lang="en-US" sz="10500" b="1" kern="0" spc="-525" dirty="0">
                <a:solidFill>
                  <a:srgbClr val="F2F7F7"/>
                </a:solidFill>
                <a:latin typeface="Outfit" pitchFamily="34" charset="0"/>
                <a:ea typeface="Outfit" pitchFamily="34" charset="-122"/>
                <a:cs typeface="Outfit" pitchFamily="34" charset="-120"/>
              </a:rPr>
              <a:t>Venta de $100</a:t>
            </a:r>
            <a:endParaRPr lang="en-US" sz="10500" dirty="0"/>
          </a:p>
        </p:txBody>
      </p:sp>
      <p:sp>
        <p:nvSpPr>
          <p:cNvPr id="8" name="Shape 6"/>
          <p:cNvSpPr/>
          <p:nvPr/>
        </p:nvSpPr>
        <p:spPr>
          <a:xfrm>
            <a:off x="9358908" y="3989070"/>
            <a:ext cx="3119497" cy="457200"/>
          </a:xfrm>
          <a:prstGeom prst="rect">
            <a:avLst/>
          </a:prstGeom>
          <a:ln w="7620">
            <a:solidFill>
              <a:srgbClr val="234052"/>
            </a:solidFill>
            <a:prstDash val="solid"/>
          </a:ln>
        </p:spPr>
        <p:txBody>
          <a:bodyPr/>
          <a:lstStyle/>
          <a:p>
            <a:endParaRPr lang="es-AR"/>
          </a:p>
        </p:txBody>
      </p:sp>
      <p:sp>
        <p:nvSpPr>
          <p:cNvPr id="9" name="Text 7"/>
          <p:cNvSpPr/>
          <p:nvPr/>
        </p:nvSpPr>
        <p:spPr>
          <a:xfrm>
            <a:off x="9518928" y="4072890"/>
            <a:ext cx="2893042" cy="327660"/>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67982"/>
                </a:solidFill>
                <a:latin typeface="Outfit" pitchFamily="34" charset="0"/>
                <a:ea typeface="Outfit" pitchFamily="34" charset="-122"/>
                <a:cs typeface="Outfit" pitchFamily="34" charset="-120"/>
              </a:rPr>
              <a:t>EJEMPLO ILUSTRATIVO</a:t>
            </a:r>
            <a:endParaRPr lang="en-US" sz="1800" dirty="0"/>
          </a:p>
        </p:txBody>
      </p:sp>
      <p:sp>
        <p:nvSpPr>
          <p:cNvPr id="10" name="Text 8"/>
          <p:cNvSpPr/>
          <p:nvPr/>
        </p:nvSpPr>
        <p:spPr>
          <a:xfrm>
            <a:off x="1104900" y="5709285"/>
            <a:ext cx="5867400" cy="422910"/>
          </a:xfrm>
          <a:prstGeom prst="rect">
            <a:avLst/>
          </a:prstGeom>
          <a:noFill/>
          <a:ln/>
        </p:spPr>
        <p:txBody>
          <a:bodyPr wrap="square" lIns="25400" tIns="25400" rIns="25400" bIns="25400" rtlCol="0" anchor="t">
            <a:normAutofit/>
          </a:bodyPr>
          <a:lstStyle/>
          <a:p>
            <a:pPr marL="0" indent="0" algn="l">
              <a:buNone/>
            </a:pPr>
            <a:r>
              <a:rPr lang="en-US" sz="2400" dirty="0">
                <a:solidFill>
                  <a:srgbClr val="A9B8BE"/>
                </a:solidFill>
                <a:latin typeface="Outfit" pitchFamily="34" charset="0"/>
                <a:ea typeface="Outfit" pitchFamily="34" charset="-122"/>
                <a:cs typeface="Outfit" pitchFamily="34" charset="-120"/>
              </a:rPr>
              <a:t>Tebex</a:t>
            </a:r>
            <a:endParaRPr lang="en-US" sz="2400" dirty="0"/>
          </a:p>
        </p:txBody>
      </p:sp>
      <p:sp>
        <p:nvSpPr>
          <p:cNvPr id="11" name="Text 9"/>
          <p:cNvSpPr/>
          <p:nvPr/>
        </p:nvSpPr>
        <p:spPr>
          <a:xfrm>
            <a:off x="1104900" y="6170295"/>
            <a:ext cx="5867400" cy="708660"/>
          </a:xfrm>
          <a:prstGeom prst="rect">
            <a:avLst/>
          </a:prstGeom>
          <a:noFill/>
          <a:ln/>
        </p:spPr>
        <p:txBody>
          <a:bodyPr wrap="none" lIns="25400" tIns="25400" rIns="25400" bIns="25400" rtlCol="0" anchor="t">
            <a:normAutofit/>
          </a:bodyPr>
          <a:lstStyle/>
          <a:p>
            <a:pPr marL="0" indent="0" algn="l">
              <a:buNone/>
            </a:pPr>
            <a:r>
              <a:rPr lang="en-US" sz="4200" b="1" kern="0" spc="-84" dirty="0">
                <a:solidFill>
                  <a:srgbClr val="A9B8BE"/>
                </a:solidFill>
                <a:latin typeface="Outfit" pitchFamily="34" charset="0"/>
                <a:ea typeface="Outfit" pitchFamily="34" charset="-122"/>
                <a:cs typeface="Outfit" pitchFamily="34" charset="-120"/>
              </a:rPr>
              <a:t>$5 de comisión</a:t>
            </a:r>
            <a:endParaRPr lang="en-US" sz="4200" dirty="0"/>
          </a:p>
        </p:txBody>
      </p:sp>
      <p:sp>
        <p:nvSpPr>
          <p:cNvPr id="12" name="Shape 10"/>
          <p:cNvSpPr/>
          <p:nvPr/>
        </p:nvSpPr>
        <p:spPr>
          <a:xfrm>
            <a:off x="6896100" y="6038850"/>
            <a:ext cx="10287000" cy="472440"/>
          </a:xfrm>
          <a:prstGeom prst="rect">
            <a:avLst/>
          </a:prstGeom>
          <a:solidFill>
            <a:srgbClr val="0B1826"/>
          </a:solidFill>
          <a:ln w="7620">
            <a:solidFill>
              <a:srgbClr val="234052"/>
            </a:solidFill>
            <a:prstDash val="solid"/>
          </a:ln>
        </p:spPr>
        <p:txBody>
          <a:bodyPr/>
          <a:lstStyle/>
          <a:p>
            <a:endParaRPr lang="es-AR"/>
          </a:p>
        </p:txBody>
      </p:sp>
      <p:sp>
        <p:nvSpPr>
          <p:cNvPr id="13" name="Shape 11"/>
          <p:cNvSpPr/>
          <p:nvPr/>
        </p:nvSpPr>
        <p:spPr>
          <a:xfrm>
            <a:off x="6903720" y="6046470"/>
            <a:ext cx="10271760" cy="457200"/>
          </a:xfrm>
          <a:prstGeom prst="rect">
            <a:avLst/>
          </a:prstGeom>
          <a:solidFill>
            <a:srgbClr val="1F5968"/>
          </a:solidFill>
          <a:ln/>
        </p:spPr>
        <p:txBody>
          <a:bodyPr/>
          <a:lstStyle/>
          <a:p>
            <a:endParaRPr lang="es-AR"/>
          </a:p>
        </p:txBody>
      </p:sp>
      <p:sp>
        <p:nvSpPr>
          <p:cNvPr id="14" name="Shape 12"/>
          <p:cNvSpPr/>
          <p:nvPr/>
        </p:nvSpPr>
        <p:spPr>
          <a:xfrm>
            <a:off x="1104900" y="7374255"/>
            <a:ext cx="16078200" cy="9525"/>
          </a:xfrm>
          <a:prstGeom prst="rect">
            <a:avLst/>
          </a:prstGeom>
          <a:solidFill>
            <a:srgbClr val="234052"/>
          </a:solidFill>
          <a:ln/>
        </p:spPr>
        <p:txBody>
          <a:bodyPr/>
          <a:lstStyle/>
          <a:p>
            <a:endParaRPr lang="es-AR"/>
          </a:p>
        </p:txBody>
      </p:sp>
      <p:sp>
        <p:nvSpPr>
          <p:cNvPr id="15" name="Text 13"/>
          <p:cNvSpPr/>
          <p:nvPr/>
        </p:nvSpPr>
        <p:spPr>
          <a:xfrm>
            <a:off x="1104900" y="7917180"/>
            <a:ext cx="5867400" cy="422910"/>
          </a:xfrm>
          <a:prstGeom prst="rect">
            <a:avLst/>
          </a:prstGeom>
          <a:noFill/>
          <a:ln/>
        </p:spPr>
        <p:txBody>
          <a:bodyPr wrap="square" lIns="25400" tIns="25400" rIns="25400" bIns="25400" rtlCol="0" anchor="t">
            <a:normAutofit/>
          </a:bodyPr>
          <a:lstStyle/>
          <a:p>
            <a:pPr marL="0" indent="0" algn="l">
              <a:buNone/>
            </a:pPr>
            <a:r>
              <a:rPr lang="en-US" sz="2400" dirty="0">
                <a:solidFill>
                  <a:srgbClr val="00D9B5"/>
                </a:solidFill>
                <a:latin typeface="Outfit" pitchFamily="34" charset="0"/>
                <a:ea typeface="Outfit" pitchFamily="34" charset="-122"/>
                <a:cs typeface="Outfit" pitchFamily="34" charset="-120"/>
              </a:rPr>
              <a:t>Coinstellation</a:t>
            </a:r>
            <a:endParaRPr lang="en-US" sz="2400" dirty="0"/>
          </a:p>
        </p:txBody>
      </p:sp>
      <p:sp>
        <p:nvSpPr>
          <p:cNvPr id="16" name="Text 14"/>
          <p:cNvSpPr/>
          <p:nvPr/>
        </p:nvSpPr>
        <p:spPr>
          <a:xfrm>
            <a:off x="1104900" y="8378190"/>
            <a:ext cx="5867400" cy="708660"/>
          </a:xfrm>
          <a:prstGeom prst="rect">
            <a:avLst/>
          </a:prstGeom>
          <a:noFill/>
          <a:ln/>
        </p:spPr>
        <p:txBody>
          <a:bodyPr wrap="non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$1 + transacción</a:t>
            </a:r>
            <a:endParaRPr lang="en-US" sz="4200" dirty="0"/>
          </a:p>
        </p:txBody>
      </p:sp>
      <p:sp>
        <p:nvSpPr>
          <p:cNvPr id="17" name="Shape 15"/>
          <p:cNvSpPr/>
          <p:nvPr/>
        </p:nvSpPr>
        <p:spPr>
          <a:xfrm>
            <a:off x="6896100" y="8246745"/>
            <a:ext cx="10287000" cy="472440"/>
          </a:xfrm>
          <a:prstGeom prst="rect">
            <a:avLst/>
          </a:prstGeom>
          <a:solidFill>
            <a:srgbClr val="0B1826"/>
          </a:solidFill>
          <a:ln w="7620">
            <a:solidFill>
              <a:srgbClr val="234052"/>
            </a:solidFill>
            <a:prstDash val="solid"/>
          </a:ln>
        </p:spPr>
        <p:txBody>
          <a:bodyPr/>
          <a:lstStyle/>
          <a:p>
            <a:endParaRPr lang="es-AR"/>
          </a:p>
        </p:txBody>
      </p:sp>
      <p:sp>
        <p:nvSpPr>
          <p:cNvPr id="18" name="Shape 16"/>
          <p:cNvSpPr/>
          <p:nvPr/>
        </p:nvSpPr>
        <p:spPr>
          <a:xfrm>
            <a:off x="6903720" y="8254365"/>
            <a:ext cx="2259747" cy="457200"/>
          </a:xfrm>
          <a:prstGeom prst="rect">
            <a:avLst/>
          </a:prstGeom>
          <a:solidFill>
            <a:srgbClr val="00D9B5"/>
          </a:solidFill>
          <a:ln/>
          <a:effectLst>
            <a:outerShdw blurRad="381000" dist="50800" dir="16200000" algn="bl" rotWithShape="0">
              <a:srgbClr val="00D9B5">
                <a:alpha val="35000"/>
              </a:srgbClr>
            </a:outerShdw>
          </a:effectLst>
        </p:spPr>
        <p:txBody>
          <a:bodyPr/>
          <a:lstStyle/>
          <a:p>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41000"/>
                </a:srgbClr>
              </a:gs>
              <a:gs pos="100000">
                <a:srgbClr val="F2F7F7">
                  <a:alpha val="0"/>
                </a:srgbClr>
              </a:gs>
            </a:gsLst>
            <a:path path="circle">
              <a:fillToRect l="43000" t="90100" r="57000" b="99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4018121"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05 — INFRAESTRUCTURA</a:t>
            </a:r>
            <a:endParaRPr lang="en-US" sz="1800" dirty="0"/>
          </a:p>
        </p:txBody>
      </p:sp>
      <p:sp>
        <p:nvSpPr>
          <p:cNvPr id="6" name="Text 4"/>
          <p:cNvSpPr/>
          <p:nvPr/>
        </p:nvSpPr>
        <p:spPr>
          <a:xfrm>
            <a:off x="1104900" y="1508760"/>
            <a:ext cx="8172450"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papel de Stellar</a:t>
            </a:r>
            <a:endParaRPr lang="en-US" sz="4800" dirty="0"/>
          </a:p>
        </p:txBody>
      </p:sp>
      <p:sp>
        <p:nvSpPr>
          <p:cNvPr id="7" name="Text 5"/>
          <p:cNvSpPr/>
          <p:nvPr/>
        </p:nvSpPr>
        <p:spPr>
          <a:xfrm>
            <a:off x="1104900" y="6313170"/>
            <a:ext cx="7652385" cy="2678430"/>
          </a:xfrm>
          <a:prstGeom prst="rect">
            <a:avLst/>
          </a:prstGeom>
          <a:noFill/>
          <a:ln/>
        </p:spPr>
        <p:txBody>
          <a:bodyPr wrap="square" lIns="25400" tIns="25400" rIns="25400" bIns="25400" rtlCol="0" anchor="t">
            <a:normAutofit/>
          </a:bodyPr>
          <a:lstStyle/>
          <a:p>
            <a:pPr marL="0" indent="0" algn="l">
              <a:lnSpc>
                <a:spcPct val="83393"/>
              </a:lnSpc>
              <a:buNone/>
            </a:pPr>
            <a:r>
              <a:rPr lang="en-US" sz="6600" b="1" kern="0" spc="-231" dirty="0">
                <a:solidFill>
                  <a:srgbClr val="F2F7F7"/>
                </a:solidFill>
                <a:latin typeface="Outfit" pitchFamily="34" charset="0"/>
                <a:ea typeface="Outfit" pitchFamily="34" charset="-122"/>
                <a:cs typeface="Outfit" pitchFamily="34" charset="-120"/>
              </a:rPr>
              <a:t>Stellar hace </a:t>
            </a:r>
            <a:r>
              <a:rPr lang="en-US" sz="6600" b="1" kern="0" spc="-231" dirty="0" err="1">
                <a:solidFill>
                  <a:srgbClr val="F2F7F7"/>
                </a:solidFill>
                <a:latin typeface="Outfit" pitchFamily="34" charset="0"/>
                <a:ea typeface="Outfit" pitchFamily="34" charset="-122"/>
                <a:cs typeface="Outfit" pitchFamily="34" charset="-120"/>
              </a:rPr>
              <a:t>posible</a:t>
            </a:r>
            <a:r>
              <a:rPr lang="en-US" sz="6600" b="1" kern="0" spc="-231" dirty="0">
                <a:solidFill>
                  <a:srgbClr val="F2F7F7"/>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una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ventaja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competitiva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muy</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importante</a:t>
            </a:r>
            <a:r>
              <a:rPr lang="en-US" sz="6600" b="1" kern="0" spc="-231" dirty="0">
                <a:solidFill>
                  <a:srgbClr val="00E8C0"/>
                </a:solidFill>
                <a:latin typeface="Outfit" pitchFamily="34" charset="0"/>
                <a:ea typeface="Outfit" pitchFamily="34" charset="-122"/>
                <a:cs typeface="Outfit" pitchFamily="34" charset="-120"/>
              </a:rPr>
              <a:t>.</a:t>
            </a:r>
            <a:endParaRPr lang="en-US" sz="6600" dirty="0"/>
          </a:p>
        </p:txBody>
      </p:sp>
      <p:sp>
        <p:nvSpPr>
          <p:cNvPr id="8" name="Shape 6"/>
          <p:cNvSpPr/>
          <p:nvPr/>
        </p:nvSpPr>
        <p:spPr>
          <a:xfrm>
            <a:off x="9725025" y="1714500"/>
            <a:ext cx="9525" cy="6858000"/>
          </a:xfrm>
          <a:prstGeom prst="rect">
            <a:avLst/>
          </a:prstGeom>
          <a:gradFill rotWithShape="1">
            <a:gsLst>
              <a:gs pos="0">
                <a:srgbClr val="3A6672">
                  <a:alpha val="100000"/>
                </a:srgbClr>
              </a:gs>
              <a:gs pos="100000">
                <a:srgbClr val="00D9B5">
                  <a:alpha val="100000"/>
                </a:srgbClr>
              </a:gs>
            </a:gsLst>
            <a:lin ang="5400000" scaled="0"/>
          </a:gradFill>
          <a:ln/>
        </p:spPr>
        <p:txBody>
          <a:bodyPr/>
          <a:lstStyle/>
          <a:p>
            <a:endParaRPr lang="es-AR"/>
          </a:p>
        </p:txBody>
      </p:sp>
      <p:sp>
        <p:nvSpPr>
          <p:cNvPr id="9" name="Shape 7"/>
          <p:cNvSpPr/>
          <p:nvPr/>
        </p:nvSpPr>
        <p:spPr>
          <a:xfrm>
            <a:off x="9525000" y="1567815"/>
            <a:ext cx="441960" cy="441960"/>
          </a:xfrm>
          <a:prstGeom prst="ellipse">
            <a:avLst/>
          </a:prstGeom>
          <a:solidFill>
            <a:srgbClr val="0B1826"/>
          </a:solidFill>
          <a:ln w="11430">
            <a:solidFill>
              <a:srgbClr val="00D9B5"/>
            </a:solidFill>
            <a:prstDash val="solid"/>
          </a:ln>
        </p:spPr>
        <p:txBody>
          <a:bodyPr/>
          <a:lstStyle/>
          <a:p>
            <a:endParaRPr lang="es-AR"/>
          </a:p>
        </p:txBody>
      </p:sp>
      <p:sp>
        <p:nvSpPr>
          <p:cNvPr id="10" name="Shape 8"/>
          <p:cNvSpPr/>
          <p:nvPr/>
        </p:nvSpPr>
        <p:spPr>
          <a:xfrm>
            <a:off x="9679305" y="1722120"/>
            <a:ext cx="133350" cy="133350"/>
          </a:xfrm>
          <a:prstGeom prst="ellipse">
            <a:avLst/>
          </a:prstGeom>
          <a:solidFill>
            <a:srgbClr val="00D9B5"/>
          </a:solidFill>
          <a:ln/>
        </p:spPr>
        <p:txBody>
          <a:bodyPr/>
          <a:lstStyle/>
          <a:p>
            <a:endParaRPr lang="es-AR"/>
          </a:p>
        </p:txBody>
      </p:sp>
      <p:sp>
        <p:nvSpPr>
          <p:cNvPr id="11" name="Text 9"/>
          <p:cNvSpPr/>
          <p:nvPr/>
        </p:nvSpPr>
        <p:spPr>
          <a:xfrm>
            <a:off x="10424160" y="1428750"/>
            <a:ext cx="1847969" cy="758190"/>
          </a:xfrm>
          <a:prstGeom prst="rect">
            <a:avLst/>
          </a:prstGeom>
          <a:noFill/>
          <a:ln/>
        </p:spPr>
        <p:txBody>
          <a:bodyPr wrap="square" lIns="25400" tIns="25400" rIns="25400" bIns="25400" rtlCol="0" anchor="t">
            <a:normAutofit/>
          </a:bodyPr>
          <a:lstStyle/>
          <a:p>
            <a:pPr marL="0" indent="0" algn="l">
              <a:buNone/>
            </a:pPr>
            <a:r>
              <a:rPr lang="en-US" sz="4500" b="1" kern="0" spc="-90" dirty="0">
                <a:solidFill>
                  <a:srgbClr val="F2F7F7"/>
                </a:solidFill>
                <a:latin typeface="Outfit" pitchFamily="34" charset="0"/>
                <a:ea typeface="Outfit" pitchFamily="34" charset="-122"/>
                <a:cs typeface="Outfit" pitchFamily="34" charset="-120"/>
              </a:rPr>
              <a:t>Stellar</a:t>
            </a:r>
            <a:endParaRPr lang="en-US" sz="4500" dirty="0"/>
          </a:p>
        </p:txBody>
      </p:sp>
      <p:sp>
        <p:nvSpPr>
          <p:cNvPr id="12" name="Shape 10"/>
          <p:cNvSpPr/>
          <p:nvPr/>
        </p:nvSpPr>
        <p:spPr>
          <a:xfrm>
            <a:off x="9525000" y="3900190"/>
            <a:ext cx="441960" cy="441960"/>
          </a:xfrm>
          <a:prstGeom prst="ellipse">
            <a:avLst/>
          </a:prstGeom>
          <a:solidFill>
            <a:srgbClr val="0B1826"/>
          </a:solidFill>
          <a:ln w="11430">
            <a:solidFill>
              <a:srgbClr val="2B5966"/>
            </a:solidFill>
            <a:prstDash val="solid"/>
          </a:ln>
        </p:spPr>
        <p:txBody>
          <a:bodyPr/>
          <a:lstStyle/>
          <a:p>
            <a:endParaRPr lang="es-AR"/>
          </a:p>
        </p:txBody>
      </p:sp>
      <p:sp>
        <p:nvSpPr>
          <p:cNvPr id="13" name="Shape 11"/>
          <p:cNvSpPr/>
          <p:nvPr/>
        </p:nvSpPr>
        <p:spPr>
          <a:xfrm>
            <a:off x="9698355" y="4073545"/>
            <a:ext cx="95250" cy="95250"/>
          </a:xfrm>
          <a:prstGeom prst="ellipse">
            <a:avLst/>
          </a:prstGeom>
          <a:solidFill>
            <a:srgbClr val="A9B8BE"/>
          </a:solidFill>
          <a:ln/>
        </p:spPr>
        <p:txBody>
          <a:bodyPr/>
          <a:lstStyle/>
          <a:p>
            <a:endParaRPr lang="es-AR"/>
          </a:p>
        </p:txBody>
      </p:sp>
      <p:sp>
        <p:nvSpPr>
          <p:cNvPr id="14" name="Text 12"/>
          <p:cNvSpPr/>
          <p:nvPr/>
        </p:nvSpPr>
        <p:spPr>
          <a:xfrm>
            <a:off x="10424160" y="3881140"/>
            <a:ext cx="5198150" cy="518160"/>
          </a:xfrm>
          <a:prstGeom prst="rect">
            <a:avLst/>
          </a:prstGeom>
          <a:noFill/>
          <a:ln/>
        </p:spPr>
        <p:txBody>
          <a:bodyPr wrap="square" lIns="25400" tIns="25400" rIns="25400" bIns="25400" rtlCol="0" anchor="t">
            <a:normAutofit/>
          </a:bodyPr>
          <a:lstStyle/>
          <a:p>
            <a:pPr marL="0" indent="0" algn="l">
              <a:buNone/>
            </a:pPr>
            <a:r>
              <a:rPr lang="en-US" sz="3000" dirty="0">
                <a:solidFill>
                  <a:srgbClr val="A9B8BE"/>
                </a:solidFill>
                <a:latin typeface="Outfit" pitchFamily="34" charset="0"/>
                <a:ea typeface="Outfit" pitchFamily="34" charset="-122"/>
                <a:cs typeface="Outfit" pitchFamily="34" charset="-120"/>
              </a:rPr>
              <a:t>Transacciones de bajo costo</a:t>
            </a:r>
            <a:endParaRPr lang="en-US" sz="3000" dirty="0"/>
          </a:p>
        </p:txBody>
      </p:sp>
      <p:sp>
        <p:nvSpPr>
          <p:cNvPr id="15" name="Shape 13"/>
          <p:cNvSpPr/>
          <p:nvPr/>
        </p:nvSpPr>
        <p:spPr>
          <a:xfrm>
            <a:off x="9525000" y="6112490"/>
            <a:ext cx="441960" cy="441960"/>
          </a:xfrm>
          <a:prstGeom prst="ellipse">
            <a:avLst/>
          </a:prstGeom>
          <a:solidFill>
            <a:srgbClr val="0B1826"/>
          </a:solidFill>
          <a:ln w="11430">
            <a:solidFill>
              <a:srgbClr val="2B5966"/>
            </a:solidFill>
            <a:prstDash val="solid"/>
          </a:ln>
        </p:spPr>
        <p:txBody>
          <a:bodyPr/>
          <a:lstStyle/>
          <a:p>
            <a:endParaRPr lang="es-AR"/>
          </a:p>
        </p:txBody>
      </p:sp>
      <p:sp>
        <p:nvSpPr>
          <p:cNvPr id="16" name="Shape 14"/>
          <p:cNvSpPr/>
          <p:nvPr/>
        </p:nvSpPr>
        <p:spPr>
          <a:xfrm>
            <a:off x="9698355" y="6285845"/>
            <a:ext cx="95250" cy="95250"/>
          </a:xfrm>
          <a:prstGeom prst="ellipse">
            <a:avLst/>
          </a:prstGeom>
          <a:solidFill>
            <a:srgbClr val="A9B8BE"/>
          </a:solidFill>
          <a:ln/>
        </p:spPr>
        <p:txBody>
          <a:bodyPr/>
          <a:lstStyle/>
          <a:p>
            <a:endParaRPr lang="es-AR"/>
          </a:p>
        </p:txBody>
      </p:sp>
      <p:sp>
        <p:nvSpPr>
          <p:cNvPr id="17" name="Text 15"/>
          <p:cNvSpPr/>
          <p:nvPr/>
        </p:nvSpPr>
        <p:spPr>
          <a:xfrm>
            <a:off x="10424160" y="6093440"/>
            <a:ext cx="6344388" cy="518160"/>
          </a:xfrm>
          <a:prstGeom prst="rect">
            <a:avLst/>
          </a:prstGeom>
          <a:noFill/>
          <a:ln/>
        </p:spPr>
        <p:txBody>
          <a:bodyPr wrap="square" lIns="25400" tIns="25400" rIns="25400" bIns="25400" rtlCol="0" anchor="t">
            <a:normAutofit/>
          </a:bodyPr>
          <a:lstStyle/>
          <a:p>
            <a:pPr marL="0" indent="0" algn="l">
              <a:buNone/>
            </a:pPr>
            <a:r>
              <a:rPr lang="en-US" sz="3000" dirty="0">
                <a:solidFill>
                  <a:srgbClr val="A9B8BE"/>
                </a:solidFill>
                <a:latin typeface="Outfit" pitchFamily="34" charset="0"/>
                <a:ea typeface="Outfit" pitchFamily="34" charset="-122"/>
                <a:cs typeface="Outfit" pitchFamily="34" charset="-120"/>
              </a:rPr>
              <a:t>Menores costos de infraestructura</a:t>
            </a:r>
            <a:endParaRPr lang="en-US" sz="3000" dirty="0"/>
          </a:p>
        </p:txBody>
      </p:sp>
      <p:sp>
        <p:nvSpPr>
          <p:cNvPr id="18" name="Shape 16"/>
          <p:cNvSpPr/>
          <p:nvPr/>
        </p:nvSpPr>
        <p:spPr>
          <a:xfrm>
            <a:off x="9525000" y="8361045"/>
            <a:ext cx="441960" cy="441960"/>
          </a:xfrm>
          <a:prstGeom prst="ellipse">
            <a:avLst/>
          </a:prstGeom>
          <a:solidFill>
            <a:srgbClr val="0B1826"/>
          </a:solidFill>
          <a:ln w="11430">
            <a:solidFill>
              <a:srgbClr val="00D9B5"/>
            </a:solidFill>
            <a:prstDash val="solid"/>
          </a:ln>
          <a:effectLst>
            <a:outerShdw blurRad="381000" dist="50800" dir="16200000" algn="bl" rotWithShape="0">
              <a:srgbClr val="00D9B5">
                <a:alpha val="35000"/>
              </a:srgbClr>
            </a:outerShdw>
          </a:effectLst>
        </p:spPr>
        <p:txBody>
          <a:bodyPr/>
          <a:lstStyle/>
          <a:p>
            <a:endParaRPr lang="es-AR"/>
          </a:p>
        </p:txBody>
      </p:sp>
      <p:sp>
        <p:nvSpPr>
          <p:cNvPr id="19" name="Shape 17"/>
          <p:cNvSpPr/>
          <p:nvPr/>
        </p:nvSpPr>
        <p:spPr>
          <a:xfrm>
            <a:off x="9679305" y="8515350"/>
            <a:ext cx="133350" cy="133350"/>
          </a:xfrm>
          <a:prstGeom prst="ellipse">
            <a:avLst/>
          </a:prstGeom>
          <a:solidFill>
            <a:srgbClr val="00D9B5"/>
          </a:solidFill>
          <a:ln/>
        </p:spPr>
        <p:txBody>
          <a:bodyPr/>
          <a:lstStyle/>
          <a:p>
            <a:endParaRPr lang="es-AR"/>
          </a:p>
        </p:txBody>
      </p:sp>
      <p:sp>
        <p:nvSpPr>
          <p:cNvPr id="20" name="Text 18"/>
          <p:cNvSpPr/>
          <p:nvPr/>
        </p:nvSpPr>
        <p:spPr>
          <a:xfrm>
            <a:off x="10424160" y="8305800"/>
            <a:ext cx="6258342" cy="590550"/>
          </a:xfrm>
          <a:prstGeom prst="rect">
            <a:avLst/>
          </a:prstGeom>
          <a:noFill/>
          <a:ln/>
        </p:spPr>
        <p:txBody>
          <a:bodyPr wrap="square" lIns="25400" tIns="25400" rIns="25400" bIns="25400" rtlCol="0" anchor="t">
            <a:normAutofit/>
          </a:bodyPr>
          <a:lstStyle/>
          <a:p>
            <a:pPr marL="0" indent="0" algn="l">
              <a:buNone/>
            </a:pPr>
            <a:r>
              <a:rPr lang="en-US" sz="3450" b="1" kern="0" spc="-69" dirty="0">
                <a:solidFill>
                  <a:srgbClr val="00D9B5"/>
                </a:solidFill>
                <a:latin typeface="Outfit" pitchFamily="34" charset="0"/>
                <a:ea typeface="Outfit" pitchFamily="34" charset="-122"/>
                <a:cs typeface="Outfit" pitchFamily="34" charset="-120"/>
              </a:rPr>
              <a:t>Comisiones más competitivas</a:t>
            </a:r>
            <a:endParaRPr lang="en-US" sz="3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30000"/>
                </a:srgbClr>
              </a:gs>
              <a:gs pos="100000">
                <a:srgbClr val="F2F7F7">
                  <a:alpha val="0"/>
                </a:srgbClr>
              </a:gs>
            </a:gsLst>
            <a:path path="circle">
              <a:fillToRect l="21200" t="24800" r="78800" b="752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666262"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06 — ADOPCIÓN</a:t>
            </a:r>
            <a:endParaRPr lang="en-US" sz="1800" dirty="0"/>
          </a:p>
        </p:txBody>
      </p:sp>
      <p:sp>
        <p:nvSpPr>
          <p:cNvPr id="6" name="Text 4"/>
          <p:cNvSpPr/>
          <p:nvPr/>
        </p:nvSpPr>
        <p:spPr>
          <a:xfrm>
            <a:off x="1104900" y="1508760"/>
            <a:ext cx="894850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Una </a:t>
            </a:r>
            <a:r>
              <a:rPr lang="en-US" sz="4800" b="1" kern="0" spc="-144" dirty="0" err="1">
                <a:solidFill>
                  <a:srgbClr val="F2F7F7"/>
                </a:solidFill>
                <a:latin typeface="Outfit" pitchFamily="34" charset="0"/>
                <a:ea typeface="Outfit" pitchFamily="34" charset="-122"/>
                <a:cs typeface="Outfit" pitchFamily="34" charset="-120"/>
              </a:rPr>
              <a:t>ventaja</a:t>
            </a:r>
            <a:r>
              <a:rPr lang="en-US" sz="4800" b="1" kern="0" spc="-144" dirty="0">
                <a:solidFill>
                  <a:srgbClr val="F2F7F7"/>
                </a:solidFill>
                <a:latin typeface="Outfit" pitchFamily="34" charset="0"/>
                <a:ea typeface="Outfit" pitchFamily="34" charset="-122"/>
                <a:cs typeface="Outfit" pitchFamily="34" charset="-120"/>
              </a:rPr>
              <a:t> para </a:t>
            </a:r>
            <a:r>
              <a:rPr lang="en-US" sz="4800" b="1" kern="0" spc="-144" dirty="0">
                <a:solidFill>
                  <a:srgbClr val="00E8C0"/>
                </a:solidFill>
                <a:latin typeface="Outfit" pitchFamily="34" charset="0"/>
                <a:ea typeface="Outfit" pitchFamily="34" charset="-122"/>
                <a:cs typeface="Outfit" pitchFamily="34" charset="-120"/>
              </a:rPr>
              <a:t>el onboarding</a:t>
            </a:r>
            <a:endParaRPr lang="en-US" sz="4800" dirty="0"/>
          </a:p>
        </p:txBody>
      </p:sp>
      <p:sp>
        <p:nvSpPr>
          <p:cNvPr id="7" name="Shape 5"/>
          <p:cNvSpPr/>
          <p:nvPr/>
        </p:nvSpPr>
        <p:spPr>
          <a:xfrm>
            <a:off x="1104900" y="3619500"/>
            <a:ext cx="4039017" cy="2095500"/>
          </a:xfrm>
          <a:prstGeom prst="rect">
            <a:avLst/>
          </a:prstGeom>
          <a:solidFill>
            <a:srgbClr val="0B1826"/>
          </a:solidFill>
          <a:ln w="7620">
            <a:solidFill>
              <a:srgbClr val="234052"/>
            </a:solidFill>
            <a:prstDash val="solid"/>
          </a:ln>
        </p:spPr>
        <p:txBody>
          <a:bodyPr/>
          <a:lstStyle/>
          <a:p>
            <a:endParaRPr lang="es-AR"/>
          </a:p>
        </p:txBody>
      </p:sp>
      <p:sp>
        <p:nvSpPr>
          <p:cNvPr id="8" name="Text 6"/>
          <p:cNvSpPr/>
          <p:nvPr/>
        </p:nvSpPr>
        <p:spPr>
          <a:xfrm>
            <a:off x="1493520" y="4067175"/>
            <a:ext cx="3359630"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F2F7F7"/>
                </a:solidFill>
                <a:latin typeface="Outfit" pitchFamily="34" charset="0"/>
                <a:ea typeface="Outfit" pitchFamily="34" charset="-122"/>
                <a:cs typeface="Outfit" pitchFamily="34" charset="-120"/>
              </a:rPr>
              <a:t>Producto conocido</a:t>
            </a:r>
            <a:endParaRPr lang="en-US" sz="4500" dirty="0"/>
          </a:p>
        </p:txBody>
      </p:sp>
      <p:sp>
        <p:nvSpPr>
          <p:cNvPr id="9" name="Text 7"/>
          <p:cNvSpPr/>
          <p:nvPr/>
        </p:nvSpPr>
        <p:spPr>
          <a:xfrm>
            <a:off x="5677317" y="4187190"/>
            <a:ext cx="485061" cy="998220"/>
          </a:xfrm>
          <a:prstGeom prst="rect">
            <a:avLst/>
          </a:prstGeom>
          <a:noFill/>
          <a:ln/>
        </p:spPr>
        <p:txBody>
          <a:bodyPr wrap="square" lIns="25400" tIns="25400" rIns="25400" bIns="25400" rtlCol="0" anchor="t">
            <a:normAutofit/>
          </a:bodyPr>
          <a:lstStyle/>
          <a:p>
            <a:pPr marL="0" indent="0" algn="l">
              <a:buNone/>
            </a:pPr>
            <a:r>
              <a:rPr lang="en-US" sz="6000" dirty="0">
                <a:solidFill>
                  <a:srgbClr val="667982"/>
                </a:solidFill>
                <a:latin typeface="Outfit" pitchFamily="34" charset="0"/>
                <a:ea typeface="Outfit" pitchFamily="34" charset="-122"/>
                <a:cs typeface="Outfit" pitchFamily="34" charset="-120"/>
              </a:rPr>
              <a:t>+</a:t>
            </a:r>
            <a:endParaRPr lang="en-US" sz="6000" dirty="0"/>
          </a:p>
        </p:txBody>
      </p:sp>
      <p:sp>
        <p:nvSpPr>
          <p:cNvPr id="10" name="Shape 8"/>
          <p:cNvSpPr/>
          <p:nvPr/>
        </p:nvSpPr>
        <p:spPr>
          <a:xfrm>
            <a:off x="6619577" y="3619500"/>
            <a:ext cx="4039017" cy="2095500"/>
          </a:xfrm>
          <a:prstGeom prst="rect">
            <a:avLst/>
          </a:prstGeom>
          <a:solidFill>
            <a:srgbClr val="0B1826"/>
          </a:solidFill>
          <a:ln w="7620">
            <a:solidFill>
              <a:srgbClr val="234052"/>
            </a:solidFill>
            <a:prstDash val="solid"/>
          </a:ln>
        </p:spPr>
        <p:txBody>
          <a:bodyPr/>
          <a:lstStyle/>
          <a:p>
            <a:endParaRPr lang="es-AR"/>
          </a:p>
        </p:txBody>
      </p:sp>
      <p:sp>
        <p:nvSpPr>
          <p:cNvPr id="11" name="Text 9"/>
          <p:cNvSpPr/>
          <p:nvPr/>
        </p:nvSpPr>
        <p:spPr>
          <a:xfrm>
            <a:off x="7008197" y="4067175"/>
            <a:ext cx="3359630"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F2F7F7"/>
                </a:solidFill>
                <a:latin typeface="Outfit" pitchFamily="34" charset="0"/>
                <a:ea typeface="Outfit" pitchFamily="34" charset="-122"/>
                <a:cs typeface="Outfit" pitchFamily="34" charset="-120"/>
              </a:rPr>
              <a:t>Menores costos</a:t>
            </a:r>
            <a:endParaRPr lang="en-US" sz="4500" dirty="0"/>
          </a:p>
        </p:txBody>
      </p:sp>
      <p:sp>
        <p:nvSpPr>
          <p:cNvPr id="12" name="Text 10"/>
          <p:cNvSpPr/>
          <p:nvPr/>
        </p:nvSpPr>
        <p:spPr>
          <a:xfrm>
            <a:off x="11191995" y="4187190"/>
            <a:ext cx="485120" cy="998220"/>
          </a:xfrm>
          <a:prstGeom prst="rect">
            <a:avLst/>
          </a:prstGeom>
          <a:noFill/>
          <a:ln/>
        </p:spPr>
        <p:txBody>
          <a:bodyPr wrap="square" lIns="25400" tIns="25400" rIns="25400" bIns="25400" rtlCol="0" anchor="t">
            <a:normAutofit/>
          </a:bodyPr>
          <a:lstStyle/>
          <a:p>
            <a:pPr marL="0" indent="0" algn="l">
              <a:buNone/>
            </a:pPr>
            <a:r>
              <a:rPr lang="en-US" sz="6000" dirty="0">
                <a:solidFill>
                  <a:srgbClr val="667982"/>
                </a:solidFill>
                <a:latin typeface="Outfit" pitchFamily="34" charset="0"/>
                <a:ea typeface="Outfit" pitchFamily="34" charset="-122"/>
                <a:cs typeface="Outfit" pitchFamily="34" charset="-120"/>
              </a:rPr>
              <a:t>=</a:t>
            </a:r>
            <a:endParaRPr lang="en-US" sz="6000" dirty="0"/>
          </a:p>
        </p:txBody>
      </p:sp>
      <p:sp>
        <p:nvSpPr>
          <p:cNvPr id="13" name="Shape 11"/>
          <p:cNvSpPr/>
          <p:nvPr/>
        </p:nvSpPr>
        <p:spPr>
          <a:xfrm>
            <a:off x="12134314" y="3619500"/>
            <a:ext cx="5048786" cy="2095500"/>
          </a:xfrm>
          <a:prstGeom prst="rect">
            <a:avLst/>
          </a:prstGeom>
          <a:solidFill>
            <a:srgbClr val="00D9B5">
              <a:alpha val="6000"/>
            </a:srgbClr>
          </a:solidFill>
          <a:ln w="7620">
            <a:solidFill>
              <a:srgbClr val="00D9B5"/>
            </a:solidFill>
            <a:prstDash val="solid"/>
          </a:ln>
          <a:effectLst>
            <a:outerShdw blurRad="762000" dist="50800" dir="16200000" algn="bl" rotWithShape="0">
              <a:srgbClr val="00D9B5">
                <a:alpha val="12000"/>
              </a:srgbClr>
            </a:outerShdw>
          </a:effectLst>
        </p:spPr>
        <p:txBody>
          <a:bodyPr/>
          <a:lstStyle/>
          <a:p>
            <a:endParaRPr lang="es-AR"/>
          </a:p>
        </p:txBody>
      </p:sp>
      <p:sp>
        <p:nvSpPr>
          <p:cNvPr id="14" name="Text 12"/>
          <p:cNvSpPr/>
          <p:nvPr/>
        </p:nvSpPr>
        <p:spPr>
          <a:xfrm>
            <a:off x="12522934" y="4067175"/>
            <a:ext cx="4399692"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00E8C0"/>
                </a:solidFill>
                <a:latin typeface="Outfit" pitchFamily="34" charset="0"/>
                <a:ea typeface="Outfit" pitchFamily="34" charset="-122"/>
                <a:cs typeface="Outfit" pitchFamily="34" charset="-120"/>
              </a:rPr>
              <a:t>Menor fricción de adopción</a:t>
            </a:r>
            <a:endParaRPr lang="en-US" sz="4500" dirty="0"/>
          </a:p>
        </p:txBody>
      </p:sp>
      <p:sp>
        <p:nvSpPr>
          <p:cNvPr id="15" name="Text 13"/>
          <p:cNvSpPr/>
          <p:nvPr/>
        </p:nvSpPr>
        <p:spPr>
          <a:xfrm>
            <a:off x="1104900" y="8115300"/>
            <a:ext cx="10301288" cy="1066800"/>
          </a:xfrm>
          <a:prstGeom prst="rect">
            <a:avLst/>
          </a:prstGeom>
          <a:noFill/>
          <a:ln/>
        </p:spPr>
        <p:txBody>
          <a:bodyPr wrap="square" lIns="25400" tIns="25400" rIns="25400" bIns="25400" rtlCol="0" anchor="t">
            <a:normAutofit/>
          </a:bodyPr>
          <a:lstStyle/>
          <a:p>
            <a:pPr marL="0" indent="0" algn="l">
              <a:lnSpc>
                <a:spcPct val="107143"/>
              </a:lnSpc>
              <a:buNone/>
            </a:pPr>
            <a:r>
              <a:rPr lang="en-US" sz="3000" dirty="0">
                <a:solidFill>
                  <a:srgbClr val="A9B8BE"/>
                </a:solidFill>
                <a:latin typeface="Outfit" pitchFamily="34" charset="0"/>
                <a:ea typeface="Outfit" pitchFamily="34" charset="-122"/>
                <a:cs typeface="Outfit" pitchFamily="34" charset="-120"/>
              </a:rPr>
              <a:t>No necesitamos crear un nuevo mercado. Podemos ofrecer una alternativa a uno que ya funciona.</a:t>
            </a:r>
            <a:endParaRPr lang="en-US" sz="3000" dirty="0"/>
          </a:p>
        </p:txBody>
      </p:sp>
      <p:sp>
        <p:nvSpPr>
          <p:cNvPr id="16" name="Text 14"/>
          <p:cNvSpPr/>
          <p:nvPr/>
        </p:nvSpPr>
        <p:spPr>
          <a:xfrm>
            <a:off x="12925545" y="8759190"/>
            <a:ext cx="4683312" cy="422910"/>
          </a:xfrm>
          <a:prstGeom prst="rect">
            <a:avLst/>
          </a:prstGeom>
          <a:noFill/>
          <a:ln/>
        </p:spPr>
        <p:txBody>
          <a:bodyPr wrap="none" lIns="25400" tIns="25400" rIns="25400" bIns="25400" rtlCol="0" anchor="t">
            <a:normAutofit/>
          </a:bodyPr>
          <a:lstStyle/>
          <a:p>
            <a:pPr marL="0" indent="0" algn="l">
              <a:buNone/>
            </a:pPr>
            <a:r>
              <a:rPr lang="en-US" sz="2400" b="1" kern="0" spc="-24" dirty="0">
                <a:solidFill>
                  <a:srgbClr val="F2F7F7"/>
                </a:solidFill>
                <a:latin typeface="Outfit" pitchFamily="34" charset="0"/>
                <a:ea typeface="Outfit" pitchFamily="34" charset="-122"/>
                <a:cs typeface="Outfit" pitchFamily="34" charset="-120"/>
              </a:rPr>
              <a:t>La misma idea. Menores costos.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90000"/>
                </a:srgbClr>
              </a:gs>
              <a:gs pos="100000">
                <a:srgbClr val="F2F7F7">
                  <a:alpha val="0"/>
                </a:srgbClr>
              </a:gs>
            </a:gsLst>
            <a:path path="circle">
              <a:fillToRect l="89900" t="99400" r="10100" b="6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148739"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07 — ESCALA</a:t>
            </a:r>
            <a:endParaRPr lang="en-US" sz="1800" dirty="0"/>
          </a:p>
        </p:txBody>
      </p:sp>
      <p:sp>
        <p:nvSpPr>
          <p:cNvPr id="6" name="Text 4"/>
          <p:cNvSpPr/>
          <p:nvPr/>
        </p:nvSpPr>
        <p:spPr>
          <a:xfrm>
            <a:off x="1104900" y="1508760"/>
            <a:ext cx="12753975" cy="1903452"/>
          </a:xfrm>
          <a:prstGeom prst="rect">
            <a:avLst/>
          </a:prstGeom>
          <a:noFill/>
          <a:ln/>
        </p:spPr>
        <p:txBody>
          <a:bodyPr wrap="square" lIns="25400" tIns="25400" rIns="25400" bIns="25400" rtlCol="0" anchor="t">
            <a:normAutofit/>
          </a:bodyPr>
          <a:lstStyle/>
          <a:p>
            <a:pPr marL="0" indent="0" algn="l">
              <a:lnSpc>
                <a:spcPct val="81060"/>
              </a:lnSpc>
              <a:buNone/>
            </a:pPr>
            <a:r>
              <a:rPr lang="en-US" sz="7200" b="1" kern="0" spc="-252" dirty="0">
                <a:solidFill>
                  <a:srgbClr val="F2F7F7"/>
                </a:solidFill>
                <a:latin typeface="Outfit" pitchFamily="34" charset="0"/>
                <a:ea typeface="Outfit" pitchFamily="34" charset="-122"/>
                <a:cs typeface="Outfit" pitchFamily="34" charset="-120"/>
              </a:rPr>
              <a:t>Construir una vez. </a:t>
            </a:r>
            <a:r>
              <a:rPr lang="en-US" sz="7200" b="1" kern="0" spc="-252" dirty="0">
                <a:solidFill>
                  <a:srgbClr val="00E8C0"/>
                </a:solidFill>
                <a:latin typeface="Outfit" pitchFamily="34" charset="0"/>
                <a:ea typeface="Outfit" pitchFamily="34" charset="-122"/>
                <a:cs typeface="Outfit" pitchFamily="34" charset="-120"/>
              </a:rPr>
              <a:t>Escalar a muchos juegos.</a:t>
            </a:r>
            <a:endParaRPr lang="en-US" sz="7200" dirty="0"/>
          </a:p>
        </p:txBody>
      </p:sp>
      <p:sp>
        <p:nvSpPr>
          <p:cNvPr id="7" name="Shape 5"/>
          <p:cNvSpPr/>
          <p:nvPr/>
        </p:nvSpPr>
        <p:spPr>
          <a:xfrm>
            <a:off x="1104900" y="6019800"/>
            <a:ext cx="16078200" cy="9525"/>
          </a:xfrm>
          <a:prstGeom prst="rect">
            <a:avLst/>
          </a:prstGeom>
          <a:gradFill rotWithShape="1">
            <a:gsLst>
              <a:gs pos="0">
                <a:srgbClr val="00D9B5">
                  <a:alpha val="100000"/>
                </a:srgbClr>
              </a:gs>
              <a:gs pos="40000">
                <a:srgbClr val="3A6672">
                  <a:alpha val="100000"/>
                </a:srgbClr>
              </a:gs>
              <a:gs pos="100000">
                <a:srgbClr val="3A6672">
                  <a:alpha val="100000"/>
                </a:srgbClr>
              </a:gs>
            </a:gsLst>
            <a:lin ang="0" scaled="0"/>
          </a:gradFill>
          <a:ln/>
        </p:spPr>
        <p:txBody>
          <a:bodyPr/>
          <a:lstStyle/>
          <a:p>
            <a:endParaRPr lang="es-AR"/>
          </a:p>
        </p:txBody>
      </p:sp>
      <p:sp>
        <p:nvSpPr>
          <p:cNvPr id="8" name="Shape 6"/>
          <p:cNvSpPr/>
          <p:nvPr/>
        </p:nvSpPr>
        <p:spPr>
          <a:xfrm>
            <a:off x="1104900" y="5867400"/>
            <a:ext cx="304800" cy="304800"/>
          </a:xfrm>
          <a:prstGeom prst="ellipse">
            <a:avLst/>
          </a:prstGeom>
          <a:solidFill>
            <a:srgbClr val="00D9B5"/>
          </a:solidFill>
          <a:ln/>
          <a:effectLst>
            <a:outerShdw blurRad="381000" dist="50800" dir="16200000" algn="bl" rotWithShape="0">
              <a:srgbClr val="00D9B5">
                <a:alpha val="50000"/>
              </a:srgbClr>
            </a:outerShdw>
          </a:effectLst>
        </p:spPr>
        <p:txBody>
          <a:bodyPr/>
          <a:lstStyle/>
          <a:p>
            <a:endParaRPr lang="es-AR"/>
          </a:p>
        </p:txBody>
      </p:sp>
      <p:sp>
        <p:nvSpPr>
          <p:cNvPr id="9" name="Text 7"/>
          <p:cNvSpPr/>
          <p:nvPr/>
        </p:nvSpPr>
        <p:spPr>
          <a:xfrm>
            <a:off x="110490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00D9B5"/>
                </a:solidFill>
                <a:latin typeface="Outfit" pitchFamily="34" charset="0"/>
                <a:ea typeface="Outfit" pitchFamily="34" charset="-122"/>
                <a:cs typeface="Outfit" pitchFamily="34" charset="-120"/>
              </a:rPr>
              <a:t>INICIO</a:t>
            </a:r>
            <a:endParaRPr lang="en-US" sz="1800" dirty="0"/>
          </a:p>
        </p:txBody>
      </p:sp>
      <p:sp>
        <p:nvSpPr>
          <p:cNvPr id="10" name="Text 8"/>
          <p:cNvSpPr/>
          <p:nvPr/>
        </p:nvSpPr>
        <p:spPr>
          <a:xfrm>
            <a:off x="110490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F2F7F7"/>
                </a:solidFill>
                <a:latin typeface="Outfit" pitchFamily="34" charset="0"/>
                <a:ea typeface="Outfit" pitchFamily="34" charset="-122"/>
                <a:cs typeface="Outfit" pitchFamily="34" charset="-120"/>
              </a:rPr>
              <a:t>Minecraft</a:t>
            </a:r>
            <a:endParaRPr lang="en-US" sz="3600" dirty="0"/>
          </a:p>
        </p:txBody>
      </p:sp>
      <p:sp>
        <p:nvSpPr>
          <p:cNvPr id="11" name="Shape 9"/>
          <p:cNvSpPr/>
          <p:nvPr/>
        </p:nvSpPr>
        <p:spPr>
          <a:xfrm>
            <a:off x="5124450" y="5779770"/>
            <a:ext cx="480060" cy="480060"/>
          </a:xfrm>
          <a:prstGeom prst="ellipse">
            <a:avLst/>
          </a:prstGeom>
          <a:solidFill>
            <a:srgbClr val="0B1826"/>
          </a:solidFill>
          <a:ln w="11430">
            <a:solidFill>
              <a:srgbClr val="2B5966"/>
            </a:solidFill>
            <a:prstDash val="solid"/>
          </a:ln>
        </p:spPr>
        <p:txBody>
          <a:bodyPr/>
          <a:lstStyle/>
          <a:p>
            <a:endParaRPr lang="es-AR"/>
          </a:p>
        </p:txBody>
      </p:sp>
      <p:sp>
        <p:nvSpPr>
          <p:cNvPr id="12" name="Text 10"/>
          <p:cNvSpPr/>
          <p:nvPr/>
        </p:nvSpPr>
        <p:spPr>
          <a:xfrm>
            <a:off x="512445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DESPUÉS</a:t>
            </a:r>
            <a:endParaRPr lang="en-US" sz="1800" dirty="0"/>
          </a:p>
        </p:txBody>
      </p:sp>
      <p:sp>
        <p:nvSpPr>
          <p:cNvPr id="13" name="Text 11"/>
          <p:cNvSpPr/>
          <p:nvPr/>
        </p:nvSpPr>
        <p:spPr>
          <a:xfrm>
            <a:off x="512445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Otros juegos</a:t>
            </a:r>
            <a:endParaRPr lang="en-US" sz="3600" dirty="0"/>
          </a:p>
        </p:txBody>
      </p:sp>
      <p:sp>
        <p:nvSpPr>
          <p:cNvPr id="14" name="Shape 12"/>
          <p:cNvSpPr/>
          <p:nvPr/>
        </p:nvSpPr>
        <p:spPr>
          <a:xfrm>
            <a:off x="9144000" y="5665470"/>
            <a:ext cx="708660" cy="708660"/>
          </a:xfrm>
          <a:prstGeom prst="ellipse">
            <a:avLst/>
          </a:prstGeom>
          <a:solidFill>
            <a:srgbClr val="0B1826"/>
          </a:solidFill>
          <a:ln w="11430">
            <a:solidFill>
              <a:srgbClr val="2B5966"/>
            </a:solidFill>
            <a:prstDash val="solid"/>
          </a:ln>
        </p:spPr>
        <p:txBody>
          <a:bodyPr/>
          <a:lstStyle/>
          <a:p>
            <a:endParaRPr lang="es-AR"/>
          </a:p>
        </p:txBody>
      </p:sp>
      <p:sp>
        <p:nvSpPr>
          <p:cNvPr id="15" name="Text 13"/>
          <p:cNvSpPr/>
          <p:nvPr/>
        </p:nvSpPr>
        <p:spPr>
          <a:xfrm>
            <a:off x="914400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DESPUÉS</a:t>
            </a:r>
            <a:endParaRPr lang="en-US" sz="1800" dirty="0"/>
          </a:p>
        </p:txBody>
      </p:sp>
      <p:sp>
        <p:nvSpPr>
          <p:cNvPr id="16" name="Text 14"/>
          <p:cNvSpPr/>
          <p:nvPr/>
        </p:nvSpPr>
        <p:spPr>
          <a:xfrm>
            <a:off x="9144000" y="7261860"/>
            <a:ext cx="4140136" cy="118872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Servidores y comunidades</a:t>
            </a:r>
            <a:endParaRPr lang="en-US" sz="3600" dirty="0"/>
          </a:p>
        </p:txBody>
      </p:sp>
      <p:sp>
        <p:nvSpPr>
          <p:cNvPr id="17" name="Shape 15"/>
          <p:cNvSpPr/>
          <p:nvPr/>
        </p:nvSpPr>
        <p:spPr>
          <a:xfrm>
            <a:off x="13163550" y="5513070"/>
            <a:ext cx="1013460" cy="1013460"/>
          </a:xfrm>
          <a:prstGeom prst="ellipse">
            <a:avLst/>
          </a:prstGeom>
          <a:solidFill>
            <a:srgbClr val="0B1826"/>
          </a:solidFill>
          <a:ln w="11430">
            <a:solidFill>
              <a:srgbClr val="2B5966"/>
            </a:solidFill>
            <a:prstDash val="solid"/>
          </a:ln>
        </p:spPr>
        <p:txBody>
          <a:bodyPr/>
          <a:lstStyle/>
          <a:p>
            <a:endParaRPr lang="es-AR"/>
          </a:p>
        </p:txBody>
      </p:sp>
      <p:sp>
        <p:nvSpPr>
          <p:cNvPr id="18" name="Text 16"/>
          <p:cNvSpPr/>
          <p:nvPr/>
        </p:nvSpPr>
        <p:spPr>
          <a:xfrm>
            <a:off x="1316355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HORIZONTE</a:t>
            </a:r>
            <a:endParaRPr lang="en-US" sz="1800" dirty="0"/>
          </a:p>
        </p:txBody>
      </p:sp>
      <p:sp>
        <p:nvSpPr>
          <p:cNvPr id="19" name="Text 17"/>
          <p:cNvSpPr/>
          <p:nvPr/>
        </p:nvSpPr>
        <p:spPr>
          <a:xfrm>
            <a:off x="1316355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Ecosistema gaming</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77600" t="94200" r="22400" b="5800"/>
            </a:path>
          </a:gradFill>
          <a:ln/>
        </p:spPr>
        <p:txBody>
          <a:bodyPr/>
          <a:lstStyle/>
          <a:p>
            <a:endParaRPr lang="es-AR"/>
          </a:p>
        </p:txBody>
      </p:sp>
      <p:sp>
        <p:nvSpPr>
          <p:cNvPr id="3" name="Shape 1"/>
          <p:cNvSpPr/>
          <p:nvPr/>
        </p:nvSpPr>
        <p:spPr>
          <a:xfrm>
            <a:off x="-14287500" y="7239000"/>
            <a:ext cx="26708100" cy="20574000"/>
          </a:xfrm>
          <a:prstGeom prst="ellipse">
            <a:avLst/>
          </a:prstGeom>
          <a:gradFill rotWithShape="1">
            <a:gsLst>
              <a:gs pos="0">
                <a:srgbClr val="0A3038">
                  <a:alpha val="100000"/>
                </a:srgbClr>
              </a:gs>
              <a:gs pos="30000">
                <a:srgbClr val="04161F">
                  <a:alpha val="100000"/>
                </a:srgbClr>
              </a:gs>
              <a:gs pos="60000">
                <a:srgbClr val="020B14">
                  <a:alpha val="100000"/>
                </a:srgbClr>
              </a:gs>
            </a:gsLst>
            <a:path path="circle">
              <a:fillToRect l="50000" r="50000" b="100000"/>
            </a:path>
          </a:gradFill>
          <a:ln w="19050">
            <a:solidFill>
              <a:srgbClr val="00E8C0">
                <a:alpha val="60000"/>
              </a:srgbClr>
            </a:solidFill>
            <a:prstDash val="solid"/>
          </a:ln>
          <a:effectLst>
            <a:outerShdw blurRad="1270000" dist="50800" dir="16200000" algn="bl" rotWithShape="0">
              <a:srgbClr val="00D9B5">
                <a:alpha val="25000"/>
              </a:srgbClr>
            </a:outerShdw>
          </a:effectLst>
        </p:spPr>
        <p:txBody>
          <a:bodyPr/>
          <a:lstStyle/>
          <a:p>
            <a:endParaRPr lang="es-A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857250"/>
            <a:ext cx="5905500" cy="4000500"/>
          </a:xfrm>
          <a:prstGeom prst="rect">
            <a:avLst/>
          </a:prstGeom>
        </p:spPr>
      </p:pic>
      <p:sp>
        <p:nvSpPr>
          <p:cNvPr id="5" name="Shape 2"/>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6" name="Shape 3"/>
          <p:cNvSpPr/>
          <p:nvPr/>
        </p:nvSpPr>
        <p:spPr>
          <a:xfrm>
            <a:off x="1714500" y="1087755"/>
            <a:ext cx="1295400" cy="19050"/>
          </a:xfrm>
          <a:prstGeom prst="rect">
            <a:avLst/>
          </a:prstGeom>
          <a:solidFill>
            <a:srgbClr val="234052"/>
          </a:solidFill>
          <a:ln/>
        </p:spPr>
        <p:txBody>
          <a:bodyPr/>
          <a:lstStyle/>
          <a:p>
            <a:endParaRPr lang="es-AR"/>
          </a:p>
        </p:txBody>
      </p:sp>
      <p:sp>
        <p:nvSpPr>
          <p:cNvPr id="7" name="Text 4"/>
          <p:cNvSpPr/>
          <p:nvPr/>
        </p:nvSpPr>
        <p:spPr>
          <a:xfrm>
            <a:off x="3276600" y="952500"/>
            <a:ext cx="3322808"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08 — OPORTUNIDAD</a:t>
            </a:r>
            <a:endParaRPr lang="en-US" sz="1800" dirty="0"/>
          </a:p>
        </p:txBody>
      </p:sp>
      <p:sp>
        <p:nvSpPr>
          <p:cNvPr id="8" name="Text 5"/>
          <p:cNvSpPr/>
          <p:nvPr/>
        </p:nvSpPr>
        <p:spPr>
          <a:xfrm>
            <a:off x="1104900" y="1508760"/>
            <a:ext cx="785013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La oportunidad para</a:t>
            </a:r>
            <a:r>
              <a:rPr lang="en-US" sz="4800" b="1" kern="0" spc="-144" dirty="0">
                <a:solidFill>
                  <a:srgbClr val="00E8C0"/>
                </a:solidFill>
                <a:latin typeface="Outfit" pitchFamily="34" charset="0"/>
                <a:ea typeface="Outfit" pitchFamily="34" charset="-122"/>
                <a:cs typeface="Outfit" pitchFamily="34" charset="-120"/>
              </a:rPr>
              <a:t>Stellar</a:t>
            </a:r>
            <a:endParaRPr lang="en-US" sz="4800" dirty="0"/>
          </a:p>
        </p:txBody>
      </p:sp>
      <p:sp>
        <p:nvSpPr>
          <p:cNvPr id="9" name="Text 6"/>
          <p:cNvSpPr/>
          <p:nvPr/>
        </p:nvSpPr>
        <p:spPr>
          <a:xfrm>
            <a:off x="1104900" y="5094923"/>
            <a:ext cx="9076134" cy="1395413"/>
          </a:xfrm>
          <a:prstGeom prst="rect">
            <a:avLst/>
          </a:prstGeom>
          <a:noFill/>
          <a:ln/>
        </p:spPr>
        <p:txBody>
          <a:bodyPr wrap="square" lIns="25400" tIns="25400" rIns="25400" bIns="25400" rtlCol="0" anchor="t">
            <a:normAutofit/>
          </a:bodyPr>
          <a:lstStyle/>
          <a:p>
            <a:pPr marL="0" indent="0" algn="l">
              <a:lnSpc>
                <a:spcPct val="75477"/>
              </a:lnSpc>
              <a:buNone/>
            </a:pPr>
            <a:r>
              <a:rPr lang="en-US" sz="11250" b="1" kern="0" spc="-506" dirty="0">
                <a:solidFill>
                  <a:srgbClr val="F2F7F7"/>
                </a:solidFill>
                <a:latin typeface="Outfit" pitchFamily="34" charset="0"/>
                <a:ea typeface="Outfit" pitchFamily="34" charset="-122"/>
                <a:cs typeface="Outfit" pitchFamily="34" charset="-120"/>
              </a:rPr>
              <a:t>Coinstellation</a:t>
            </a:r>
            <a:endParaRPr lang="en-US" sz="11250" dirty="0"/>
          </a:p>
        </p:txBody>
      </p:sp>
      <p:sp>
        <p:nvSpPr>
          <p:cNvPr id="10" name="Text 7"/>
          <p:cNvSpPr/>
          <p:nvPr/>
        </p:nvSpPr>
        <p:spPr>
          <a:xfrm>
            <a:off x="9698831" y="5418773"/>
            <a:ext cx="638354" cy="1033463"/>
          </a:xfrm>
          <a:prstGeom prst="rect">
            <a:avLst/>
          </a:prstGeom>
          <a:noFill/>
          <a:ln/>
        </p:spPr>
        <p:txBody>
          <a:bodyPr wrap="square" lIns="25400" tIns="25400" rIns="25400" bIns="25400" rtlCol="0" anchor="t">
            <a:normAutofit lnSpcReduction="10000"/>
          </a:bodyPr>
          <a:lstStyle/>
          <a:p>
            <a:pPr marL="0" indent="0" algn="l">
              <a:lnSpc>
                <a:spcPct val="75506"/>
              </a:lnSpc>
              <a:buNone/>
            </a:pPr>
            <a:r>
              <a:rPr lang="en-US" sz="8250" dirty="0">
                <a:solidFill>
                  <a:srgbClr val="00D9B5"/>
                </a:solidFill>
                <a:latin typeface="Outfit" pitchFamily="34" charset="0"/>
                <a:ea typeface="Outfit" pitchFamily="34" charset="-122"/>
                <a:cs typeface="Outfit" pitchFamily="34" charset="-120"/>
              </a:rPr>
              <a:t>×</a:t>
            </a:r>
            <a:endParaRPr lang="en-US" sz="8250" dirty="0"/>
          </a:p>
        </p:txBody>
      </p:sp>
      <p:sp>
        <p:nvSpPr>
          <p:cNvPr id="11" name="Text 8"/>
          <p:cNvSpPr/>
          <p:nvPr/>
        </p:nvSpPr>
        <p:spPr>
          <a:xfrm>
            <a:off x="10603885" y="5094923"/>
            <a:ext cx="4344758" cy="1395413"/>
          </a:xfrm>
          <a:prstGeom prst="rect">
            <a:avLst/>
          </a:prstGeom>
          <a:noFill/>
          <a:ln/>
        </p:spPr>
        <p:txBody>
          <a:bodyPr wrap="square" lIns="25400" tIns="25400" rIns="25400" bIns="25400" rtlCol="0" anchor="t">
            <a:normAutofit/>
          </a:bodyPr>
          <a:lstStyle/>
          <a:p>
            <a:pPr marL="0" indent="0" algn="l">
              <a:lnSpc>
                <a:spcPct val="75477"/>
              </a:lnSpc>
              <a:buNone/>
            </a:pPr>
            <a:r>
              <a:rPr lang="en-US" sz="11250" b="1" kern="0" spc="-506" dirty="0">
                <a:solidFill>
                  <a:srgbClr val="F2F7F7"/>
                </a:solidFill>
                <a:latin typeface="Outfit" pitchFamily="34" charset="0"/>
                <a:ea typeface="Outfit" pitchFamily="34" charset="-122"/>
                <a:cs typeface="Outfit" pitchFamily="34" charset="-120"/>
              </a:rPr>
              <a:t>Stellar</a:t>
            </a:r>
            <a:endParaRPr lang="en-US" sz="11250" dirty="0"/>
          </a:p>
        </p:txBody>
      </p:sp>
      <p:sp>
        <p:nvSpPr>
          <p:cNvPr id="12" name="Text 9"/>
          <p:cNvSpPr/>
          <p:nvPr/>
        </p:nvSpPr>
        <p:spPr>
          <a:xfrm>
            <a:off x="1104900" y="6642735"/>
            <a:ext cx="14793640" cy="567690"/>
          </a:xfrm>
          <a:prstGeom prst="rect">
            <a:avLst/>
          </a:prstGeom>
          <a:noFill/>
          <a:ln/>
        </p:spPr>
        <p:txBody>
          <a:bodyPr wrap="square" lIns="25400" tIns="25400" rIns="25400" bIns="25400" rtlCol="0" anchor="t">
            <a:normAutofit/>
          </a:bodyPr>
          <a:lstStyle/>
          <a:p>
            <a:pPr marL="0" indent="0" algn="l">
              <a:buNone/>
            </a:pPr>
            <a:r>
              <a:rPr lang="en-US" sz="3300" dirty="0">
                <a:solidFill>
                  <a:srgbClr val="A9B8BE"/>
                </a:solidFill>
                <a:latin typeface="Outfit" pitchFamily="34" charset="0"/>
                <a:ea typeface="Outfit" pitchFamily="34" charset="-122"/>
                <a:cs typeface="Outfit" pitchFamily="34" charset="-120"/>
              </a:rPr>
              <a:t>Comercio digital dentro del gaming</a:t>
            </a:r>
            <a:endParaRPr lang="en-US" sz="3300" dirty="0"/>
          </a:p>
        </p:txBody>
      </p:sp>
      <p:sp>
        <p:nvSpPr>
          <p:cNvPr id="13" name="Shape 10"/>
          <p:cNvSpPr/>
          <p:nvPr/>
        </p:nvSpPr>
        <p:spPr>
          <a:xfrm>
            <a:off x="1104900" y="7591425"/>
            <a:ext cx="1524000" cy="9525"/>
          </a:xfrm>
          <a:prstGeom prst="rect">
            <a:avLst/>
          </a:prstGeom>
          <a:solidFill>
            <a:srgbClr val="00D9B5"/>
          </a:solidFill>
          <a:ln/>
        </p:spPr>
        <p:txBody>
          <a:bodyPr/>
          <a:lstStyle/>
          <a:p>
            <a:endParaRPr lang="es-AR"/>
          </a:p>
        </p:txBody>
      </p:sp>
      <p:sp>
        <p:nvSpPr>
          <p:cNvPr id="14" name="Text 11"/>
          <p:cNvSpPr/>
          <p:nvPr/>
        </p:nvSpPr>
        <p:spPr>
          <a:xfrm>
            <a:off x="1104900" y="8020050"/>
            <a:ext cx="10791825" cy="1066800"/>
          </a:xfrm>
          <a:prstGeom prst="rect">
            <a:avLst/>
          </a:prstGeom>
          <a:noFill/>
          <a:ln/>
        </p:spPr>
        <p:txBody>
          <a:bodyPr wrap="square" lIns="25400" tIns="25400" rIns="25400" bIns="25400" rtlCol="0" anchor="t">
            <a:normAutofit/>
          </a:bodyPr>
          <a:lstStyle/>
          <a:p>
            <a:pPr marL="0" indent="0" algn="l">
              <a:lnSpc>
                <a:spcPct val="107143"/>
              </a:lnSpc>
              <a:buNone/>
            </a:pPr>
            <a:r>
              <a:rPr lang="en-US" sz="3000" dirty="0">
                <a:solidFill>
                  <a:srgbClr val="F2F7F7"/>
                </a:solidFill>
                <a:latin typeface="Outfit" pitchFamily="34" charset="0"/>
                <a:ea typeface="Outfit" pitchFamily="34" charset="-122"/>
                <a:cs typeface="Outfit" pitchFamily="34" charset="-120"/>
              </a:rPr>
              <a:t>Cada nuevo merchant puede convertirse en una nueva oportunidad de uso de Stellar.</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80000" t="75000" r="20000" b="25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09 — ANCHORS</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Anchors que mueven </a:t>
            </a:r>
            <a:r>
              <a:rPr lang="es-AR" sz="6600" b="1" kern="0" spc="-200" dirty="0">
                <a:solidFill>
                  <a:srgbClr val="00E8C0"/>
                </a:solidFill>
                <a:latin typeface="Outfit" pitchFamily="34" charset="0"/>
                <a:ea typeface="Outfit" pitchFamily="34" charset="-122"/>
                <a:cs typeface="Outfit" pitchFamily="34" charset="-120"/>
              </a:rPr>
              <a:t>los pagos.</a:t>
            </a:r>
          </a:p>
        </p:txBody>
      </p:sp>
      <p:sp>
        <p:nvSpPr>
          <p:cNvPr id="7" name="Shape 7"/>
          <p:cNvSpPr/>
          <p:nvPr/>
        </p:nvSpPr>
        <p:spPr>
          <a:xfrm>
            <a:off x="9144000" y="3900000"/>
            <a:ext cx="9525" cy="4100000"/>
          </a:xfrm>
          <a:prstGeom prst="rect">
            <a:avLst/>
          </a:prstGeom>
          <a:solidFill>
            <a:srgbClr val="234052"/>
          </a:solidFill>
          <a:ln/>
        </p:spPr>
        <p:txBody>
          <a:bodyPr/>
          <a:lstStyle/>
          <a:p>
            <a:endParaRPr lang="es-AR"/>
          </a:p>
        </p:txBody>
      </p:sp>
      <p:pic>
        <p:nvPicPr>
          <p:cNvPr id="8" name="Cosmos Pay" descr="Logo Cosmos Pay"/>
          <p:cNvPicPr>
            <a:picLocks noChangeAspect="1"/>
          </p:cNvPicPr>
          <p:nvPr/>
        </p:nvPicPr>
        <p:blipFill>
          <a:blip r:embed="rId3"/>
          <a:stretch>
            <a:fillRect/>
          </a:stretch>
        </p:blipFill>
        <p:spPr>
          <a:xfrm>
            <a:off x="1104900" y="4150000"/>
            <a:ext cx="4094696" cy="1150000"/>
          </a:xfrm>
          <a:prstGeom prst="rect">
            <a:avLst/>
          </a:prstGeom>
        </p:spPr>
      </p:pic>
      <p:pic>
        <p:nvPicPr>
          <p:cNvPr id="9" name="Abroad" descr="Logo Abroad"/>
          <p:cNvPicPr>
            <a:picLocks noChangeAspect="1"/>
          </p:cNvPicPr>
          <p:nvPr/>
        </p:nvPicPr>
        <p:blipFill>
          <a:blip r:embed="rId4"/>
          <a:stretch>
            <a:fillRect/>
          </a:stretch>
        </p:blipFill>
        <p:spPr>
          <a:xfrm>
            <a:off x="9756000" y="3850000"/>
            <a:ext cx="4547839" cy="1750000"/>
          </a:xfrm>
          <a:prstGeom prst="rect">
            <a:avLst/>
          </a:prstGeom>
        </p:spPr>
      </p:pic>
      <p:sp>
        <p:nvSpPr>
          <p:cNvPr id="10" name="Text 10"/>
          <p:cNvSpPr txBox="1"/>
          <p:nvPr/>
        </p:nvSpPr>
        <p:spPr>
          <a:xfrm>
            <a:off x="1104900" y="5900000"/>
            <a:ext cx="73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ANCHOR · PROCESAMIENTO DE PAGOS</a:t>
            </a:r>
          </a:p>
        </p:txBody>
      </p:sp>
      <p:sp>
        <p:nvSpPr>
          <p:cNvPr id="11" name="Text 11"/>
          <p:cNvSpPr txBox="1"/>
          <p:nvPr/>
        </p:nvSpPr>
        <p:spPr>
          <a:xfrm>
            <a:off x="1104900" y="6450000"/>
            <a:ext cx="7000000" cy="1300000"/>
          </a:xfrm>
          <a:prstGeom prst="rect">
            <a:avLst/>
          </a:prstGeom>
          <a:noFill/>
          <a:ln/>
        </p:spPr>
        <p:txBody>
          <a:bodyPr wrap="square" lIns="25400" tIns="25400" rIns="25400" bIns="25400" rtlCol="0" anchor="t">
            <a:noAutofit/>
          </a:bodyPr>
          <a:lstStyle/>
          <a:p>
            <a:pPr marL="0" indent="0" algn="l">
              <a:lnSpc>
                <a:spcPct val="95000"/>
              </a:lnSpc>
              <a:buNone/>
            </a:pPr>
            <a:r>
              <a:rPr lang="es-AR" sz="3000" kern="0" spc="0" dirty="0">
                <a:solidFill>
                  <a:srgbClr val="F2F7F7"/>
                </a:solidFill>
                <a:latin typeface="Outfit" pitchFamily="34" charset="0"/>
                <a:ea typeface="Outfit" pitchFamily="34" charset="-122"/>
                <a:cs typeface="Outfit" pitchFamily="34" charset="-120"/>
              </a:rPr>
              <a:t>Procesa los pagos de cada webstore sobre Stellar.</a:t>
            </a:r>
          </a:p>
        </p:txBody>
      </p:sp>
      <p:sp>
        <p:nvSpPr>
          <p:cNvPr id="12" name="Text 12"/>
          <p:cNvSpPr txBox="1"/>
          <p:nvPr/>
        </p:nvSpPr>
        <p:spPr>
          <a:xfrm>
            <a:off x="9906000" y="5900000"/>
            <a:ext cx="73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ANCHOR · PAGOS LOCALES</a:t>
            </a:r>
          </a:p>
        </p:txBody>
      </p:sp>
      <p:sp>
        <p:nvSpPr>
          <p:cNvPr id="13" name="Text 13"/>
          <p:cNvSpPr txBox="1"/>
          <p:nvPr/>
        </p:nvSpPr>
        <p:spPr>
          <a:xfrm>
            <a:off x="9906000" y="6450000"/>
            <a:ext cx="7000000" cy="1300000"/>
          </a:xfrm>
          <a:prstGeom prst="rect">
            <a:avLst/>
          </a:prstGeom>
          <a:noFill/>
          <a:ln/>
        </p:spPr>
        <p:txBody>
          <a:bodyPr wrap="square" lIns="25400" tIns="25400" rIns="25400" bIns="25400" rtlCol="0" anchor="t">
            <a:noAutofit/>
          </a:bodyPr>
          <a:lstStyle/>
          <a:p>
            <a:pPr marL="0" indent="0" algn="l">
              <a:lnSpc>
                <a:spcPct val="95000"/>
              </a:lnSpc>
              <a:buNone/>
            </a:pPr>
            <a:r>
              <a:rPr lang="es-AR" sz="3000" kern="0" spc="0" dirty="0">
                <a:solidFill>
                  <a:srgbClr val="F2F7F7"/>
                </a:solidFill>
                <a:latin typeface="Outfit" pitchFamily="34" charset="0"/>
                <a:ea typeface="Outfit" pitchFamily="34" charset="-122"/>
                <a:cs typeface="Outfit" pitchFamily="34" charset="-120"/>
              </a:rPr>
              <a:t>Los jugadores pagan con los métodos locales de su país.</a:t>
            </a:r>
          </a:p>
        </p:txBody>
      </p:sp>
      <p:sp>
        <p:nvSpPr>
          <p:cNvPr id="14" name="Text 14"/>
          <p:cNvSpPr txBox="1"/>
          <p:nvPr/>
        </p:nvSpPr>
        <p:spPr>
          <a:xfrm>
            <a:off x="1104900" y="8650000"/>
            <a:ext cx="16078200" cy="600000"/>
          </a:xfrm>
          <a:prstGeom prst="rect">
            <a:avLst/>
          </a:prstGeom>
          <a:noFill/>
          <a:ln/>
        </p:spPr>
        <p:txBody>
          <a:bodyPr wrap="square" lIns="25400" tIns="25400" rIns="25400" bIns="25400" rtlCol="0" anchor="t">
            <a:noAutofit/>
          </a:bodyPr>
          <a:lstStyle/>
          <a:p>
            <a:pPr marL="0" indent="0" algn="l">
              <a:buNone/>
            </a:pPr>
            <a:r>
              <a:rPr lang="es-AR" sz="2400" kern="0" spc="0" dirty="0">
                <a:solidFill>
                  <a:srgbClr val="A9B8BE"/>
                </a:solidFill>
                <a:latin typeface="Outfit" pitchFamily="34" charset="0"/>
                <a:ea typeface="Outfit" pitchFamily="34" charset="-122"/>
                <a:cs typeface="Outfit" pitchFamily="34" charset="-120"/>
              </a:rPr>
              <a:t>Nosotros construimos la webstore. </a:t>
            </a:r>
            <a:r>
              <a:rPr lang="es-AR" sz="2400" b="1" kern="0" spc="0" dirty="0">
                <a:solidFill>
                  <a:srgbClr val="00D9B5"/>
                </a:solidFill>
                <a:latin typeface="Outfit" pitchFamily="34" charset="0"/>
                <a:ea typeface="Outfit" pitchFamily="34" charset="-122"/>
                <a:cs typeface="Outfit" pitchFamily="34" charset="-120"/>
              </a:rPr>
              <a:t>Aprovechamos los </a:t>
            </a:r>
            <a:r>
              <a:rPr lang="es-AR" sz="2400" b="1" kern="0" spc="0" dirty="0" err="1">
                <a:solidFill>
                  <a:srgbClr val="00D9B5"/>
                </a:solidFill>
                <a:latin typeface="Outfit" pitchFamily="34" charset="0"/>
                <a:ea typeface="Outfit" pitchFamily="34" charset="-122"/>
                <a:cs typeface="Outfit" pitchFamily="34" charset="-120"/>
              </a:rPr>
              <a:t>anchors</a:t>
            </a:r>
            <a:r>
              <a:rPr lang="es-AR" sz="2400" b="1" kern="0" spc="0" dirty="0">
                <a:solidFill>
                  <a:srgbClr val="00D9B5"/>
                </a:solidFill>
                <a:latin typeface="Outfit" pitchFamily="34" charset="0"/>
                <a:ea typeface="Outfit" pitchFamily="34" charset="-122"/>
                <a:cs typeface="Outfit" pitchFamily="34" charset="-120"/>
              </a:rPr>
              <a:t> para mover el dinero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88000" t="12000" r="12000" b="88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10 — ESTRATEGIA DE MERCADO</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Empezamos donde </a:t>
            </a:r>
            <a:r>
              <a:rPr lang="es-AR" sz="6600" b="1" kern="0" spc="-200" dirty="0">
                <a:solidFill>
                  <a:srgbClr val="00E8C0"/>
                </a:solidFill>
                <a:latin typeface="Outfit" pitchFamily="34" charset="0"/>
                <a:ea typeface="Outfit" pitchFamily="34" charset="-122"/>
                <a:cs typeface="Outfit" pitchFamily="34" charset="-120"/>
              </a:rPr>
              <a:t>ya nos conocen.</a:t>
            </a:r>
          </a:p>
        </p:txBody>
      </p:sp>
      <p:sp>
        <p:nvSpPr>
          <p:cNvPr id="7" name="Text 7"/>
          <p:cNvSpPr txBox="1"/>
          <p:nvPr/>
        </p:nvSpPr>
        <p:spPr>
          <a:xfrm>
            <a:off x="1104900" y="2900000"/>
            <a:ext cx="14000000" cy="1000000"/>
          </a:xfrm>
          <a:prstGeom prst="rect">
            <a:avLst/>
          </a:prstGeom>
          <a:noFill/>
          <a:ln/>
        </p:spPr>
        <p:txBody>
          <a:bodyPr wrap="square" lIns="25400" tIns="25400" rIns="25400" bIns="25400" rtlCol="0" anchor="t">
            <a:noAutofit/>
          </a:bodyPr>
          <a:lstStyle/>
          <a:p>
            <a:pPr marL="0" indent="0" algn="l">
              <a:lnSpc>
                <a:spcPct val="95000"/>
              </a:lnSpc>
              <a:buNone/>
            </a:pPr>
            <a:r>
              <a:rPr lang="es-AR" sz="2800" kern="0" spc="0" dirty="0">
                <a:solidFill>
                  <a:srgbClr val="A9B8BE"/>
                </a:solidFill>
                <a:latin typeface="Outfit" pitchFamily="34" charset="0"/>
                <a:ea typeface="Outfit" pitchFamily="34" charset="-122"/>
                <a:cs typeface="Outfit" pitchFamily="34" charset="-120"/>
              </a:rPr>
              <a:t>Nos publicitamos en comunidades de las que </a:t>
            </a:r>
            <a:r>
              <a:rPr lang="es-AR" sz="2800" b="1" kern="0" spc="0" dirty="0">
                <a:solidFill>
                  <a:srgbClr val="F2F7F7"/>
                </a:solidFill>
                <a:latin typeface="Outfit" pitchFamily="34" charset="0"/>
                <a:ea typeface="Outfit" pitchFamily="34" charset="-122"/>
                <a:cs typeface="Outfit" pitchFamily="34" charset="-120"/>
              </a:rPr>
              <a:t>ya somos miembros reconocidos.</a:t>
            </a:r>
          </a:p>
        </p:txBody>
      </p:sp>
      <p:sp>
        <p:nvSpPr>
          <p:cNvPr id="8" name="Shape 8"/>
          <p:cNvSpPr/>
          <p:nvPr/>
        </p:nvSpPr>
        <p:spPr>
          <a:xfrm>
            <a:off x="1104900" y="7098480"/>
            <a:ext cx="16078200" cy="9525"/>
          </a:xfrm>
          <a:prstGeom prst="rect">
            <a:avLst/>
          </a:prstGeom>
          <a:solidFill>
            <a:srgbClr val="3A6672"/>
          </a:solidFill>
          <a:ln/>
        </p:spPr>
        <p:txBody>
          <a:bodyPr/>
          <a:lstStyle/>
          <a:p>
            <a:endParaRPr lang="es-AR"/>
          </a:p>
        </p:txBody>
      </p:sp>
      <p:sp>
        <p:nvSpPr>
          <p:cNvPr id="9" name="Shape 9"/>
          <p:cNvSpPr/>
          <p:nvPr/>
        </p:nvSpPr>
        <p:spPr>
          <a:xfrm>
            <a:off x="1104900" y="6888480"/>
            <a:ext cx="441960" cy="441960"/>
          </a:xfrm>
          <a:prstGeom prst="ellipse">
            <a:avLst/>
          </a:prstGeom>
          <a:solidFill>
            <a:srgbClr val="0B1826"/>
          </a:solidFill>
          <a:ln w="11430">
            <a:solidFill>
              <a:srgbClr val="2B5966"/>
            </a:solidFill>
          </a:ln>
        </p:spPr>
        <p:txBody>
          <a:bodyPr/>
          <a:lstStyle/>
          <a:p>
            <a:endParaRPr lang="es-AR"/>
          </a:p>
        </p:txBody>
      </p:sp>
      <p:sp>
        <p:nvSpPr>
          <p:cNvPr id="10" name="Shape 10"/>
          <p:cNvSpPr/>
          <p:nvPr/>
        </p:nvSpPr>
        <p:spPr>
          <a:xfrm>
            <a:off x="1278255" y="7061835"/>
            <a:ext cx="95250" cy="95250"/>
          </a:xfrm>
          <a:prstGeom prst="ellipse">
            <a:avLst/>
          </a:prstGeom>
          <a:solidFill>
            <a:srgbClr val="A9B8BE"/>
          </a:solidFill>
          <a:ln/>
        </p:spPr>
        <p:txBody>
          <a:bodyPr/>
          <a:lstStyle/>
          <a:p>
            <a:endParaRPr lang="es-AR"/>
          </a:p>
        </p:txBody>
      </p:sp>
      <p:sp>
        <p:nvSpPr>
          <p:cNvPr id="11" name="Text 11"/>
          <p:cNvSpPr txBox="1"/>
          <p:nvPr/>
        </p:nvSpPr>
        <p:spPr>
          <a:xfrm>
            <a:off x="110490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Comunidades</a:t>
            </a:r>
          </a:p>
        </p:txBody>
      </p:sp>
      <p:sp>
        <p:nvSpPr>
          <p:cNvPr id="12" name="Text 12"/>
          <p:cNvSpPr txBox="1"/>
          <p:nvPr/>
        </p:nvSpPr>
        <p:spPr>
          <a:xfrm>
            <a:off x="110490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Donde ya somos miembros reconocidos</a:t>
            </a:r>
          </a:p>
        </p:txBody>
      </p:sp>
      <p:sp>
        <p:nvSpPr>
          <p:cNvPr id="13" name="Shape 13"/>
          <p:cNvSpPr/>
          <p:nvPr/>
        </p:nvSpPr>
        <p:spPr>
          <a:xfrm>
            <a:off x="5124450" y="6888480"/>
            <a:ext cx="441960" cy="441960"/>
          </a:xfrm>
          <a:prstGeom prst="ellipse">
            <a:avLst/>
          </a:prstGeom>
          <a:solidFill>
            <a:srgbClr val="0B1826"/>
          </a:solidFill>
          <a:ln w="11430">
            <a:solidFill>
              <a:srgbClr val="2B5966"/>
            </a:solidFill>
          </a:ln>
        </p:spPr>
        <p:txBody>
          <a:bodyPr/>
          <a:lstStyle/>
          <a:p>
            <a:endParaRPr lang="es-AR"/>
          </a:p>
        </p:txBody>
      </p:sp>
      <p:sp>
        <p:nvSpPr>
          <p:cNvPr id="14" name="Shape 14"/>
          <p:cNvSpPr/>
          <p:nvPr/>
        </p:nvSpPr>
        <p:spPr>
          <a:xfrm>
            <a:off x="5297805" y="7061835"/>
            <a:ext cx="95250" cy="95250"/>
          </a:xfrm>
          <a:prstGeom prst="ellipse">
            <a:avLst/>
          </a:prstGeom>
          <a:solidFill>
            <a:srgbClr val="A9B8BE"/>
          </a:solidFill>
          <a:ln/>
        </p:spPr>
        <p:txBody>
          <a:bodyPr/>
          <a:lstStyle/>
          <a:p>
            <a:endParaRPr lang="es-AR"/>
          </a:p>
        </p:txBody>
      </p:sp>
      <p:sp>
        <p:nvSpPr>
          <p:cNvPr id="15" name="Text 15"/>
          <p:cNvSpPr txBox="1"/>
          <p:nvPr/>
        </p:nvSpPr>
        <p:spPr>
          <a:xfrm>
            <a:off x="512445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Confianza</a:t>
            </a:r>
          </a:p>
        </p:txBody>
      </p:sp>
      <p:sp>
        <p:nvSpPr>
          <p:cNvPr id="16" name="Text 16"/>
          <p:cNvSpPr txBox="1"/>
          <p:nvPr/>
        </p:nvSpPr>
        <p:spPr>
          <a:xfrm>
            <a:off x="512445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No llegamos como desconocidos</a:t>
            </a:r>
          </a:p>
        </p:txBody>
      </p:sp>
      <p:sp>
        <p:nvSpPr>
          <p:cNvPr id="17" name="Shape 17"/>
          <p:cNvSpPr/>
          <p:nvPr/>
        </p:nvSpPr>
        <p:spPr>
          <a:xfrm>
            <a:off x="9144000" y="6888480"/>
            <a:ext cx="441960" cy="441960"/>
          </a:xfrm>
          <a:prstGeom prst="ellipse">
            <a:avLst/>
          </a:prstGeom>
          <a:solidFill>
            <a:srgbClr val="0B1826"/>
          </a:solidFill>
          <a:ln w="11430">
            <a:solidFill>
              <a:srgbClr val="2B5966"/>
            </a:solidFill>
          </a:ln>
        </p:spPr>
        <p:txBody>
          <a:bodyPr/>
          <a:lstStyle/>
          <a:p>
            <a:endParaRPr lang="es-AR"/>
          </a:p>
        </p:txBody>
      </p:sp>
      <p:sp>
        <p:nvSpPr>
          <p:cNvPr id="18" name="Shape 18"/>
          <p:cNvSpPr/>
          <p:nvPr/>
        </p:nvSpPr>
        <p:spPr>
          <a:xfrm>
            <a:off x="9317355" y="7061835"/>
            <a:ext cx="95250" cy="95250"/>
          </a:xfrm>
          <a:prstGeom prst="ellipse">
            <a:avLst/>
          </a:prstGeom>
          <a:solidFill>
            <a:srgbClr val="A9B8BE"/>
          </a:solidFill>
          <a:ln/>
        </p:spPr>
        <p:txBody>
          <a:bodyPr/>
          <a:lstStyle/>
          <a:p>
            <a:endParaRPr lang="es-AR"/>
          </a:p>
        </p:txBody>
      </p:sp>
      <p:sp>
        <p:nvSpPr>
          <p:cNvPr id="19" name="Text 19"/>
          <p:cNvSpPr txBox="1"/>
          <p:nvPr/>
        </p:nvSpPr>
        <p:spPr>
          <a:xfrm>
            <a:off x="914400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Primeros creadores</a:t>
            </a:r>
          </a:p>
        </p:txBody>
      </p:sp>
      <p:sp>
        <p:nvSpPr>
          <p:cNvPr id="20" name="Text 20"/>
          <p:cNvSpPr txBox="1"/>
          <p:nvPr/>
        </p:nvSpPr>
        <p:spPr>
          <a:xfrm>
            <a:off x="914400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Adopción temprana con bajo costo de adquisición</a:t>
            </a:r>
          </a:p>
        </p:txBody>
      </p:sp>
      <p:sp>
        <p:nvSpPr>
          <p:cNvPr id="21" name="Shape 21"/>
          <p:cNvSpPr/>
          <p:nvPr/>
        </p:nvSpPr>
        <p:spPr>
          <a:xfrm>
            <a:off x="13163550" y="6888480"/>
            <a:ext cx="441960" cy="441960"/>
          </a:xfrm>
          <a:prstGeom prst="ellipse">
            <a:avLst/>
          </a:prstGeom>
          <a:solidFill>
            <a:srgbClr val="0B1826"/>
          </a:solidFill>
          <a:ln w="11430">
            <a:solidFill>
              <a:srgbClr val="00E8C0"/>
            </a:solidFill>
          </a:ln>
          <a:effectLst>
            <a:outerShdw blurRad="228600" algn="ctr" rotWithShape="0">
              <a:srgbClr val="00E8C0">
                <a:alpha val="60000"/>
              </a:srgbClr>
            </a:outerShdw>
          </a:effectLst>
        </p:spPr>
        <p:txBody>
          <a:bodyPr/>
          <a:lstStyle/>
          <a:p>
            <a:endParaRPr lang="es-AR"/>
          </a:p>
        </p:txBody>
      </p:sp>
      <p:sp>
        <p:nvSpPr>
          <p:cNvPr id="22" name="Shape 22"/>
          <p:cNvSpPr/>
          <p:nvPr/>
        </p:nvSpPr>
        <p:spPr>
          <a:xfrm>
            <a:off x="13336905" y="7061835"/>
            <a:ext cx="95250" cy="95250"/>
          </a:xfrm>
          <a:prstGeom prst="ellipse">
            <a:avLst/>
          </a:prstGeom>
          <a:solidFill>
            <a:srgbClr val="00E8C0"/>
          </a:solidFill>
          <a:ln/>
        </p:spPr>
        <p:txBody>
          <a:bodyPr/>
          <a:lstStyle/>
          <a:p>
            <a:endParaRPr lang="es-AR"/>
          </a:p>
        </p:txBody>
      </p:sp>
      <p:sp>
        <p:nvSpPr>
          <p:cNvPr id="23" name="Text 23"/>
          <p:cNvSpPr txBox="1"/>
          <p:nvPr/>
        </p:nvSpPr>
        <p:spPr>
          <a:xfrm>
            <a:off x="1316355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00D9B5"/>
                </a:solidFill>
                <a:latin typeface="Outfit" pitchFamily="34" charset="0"/>
                <a:ea typeface="Outfit" pitchFamily="34" charset="-122"/>
                <a:cs typeface="Outfit" pitchFamily="34" charset="-120"/>
              </a:rPr>
              <a:t>Boca a boca</a:t>
            </a:r>
          </a:p>
        </p:txBody>
      </p:sp>
      <p:sp>
        <p:nvSpPr>
          <p:cNvPr id="24" name="Text 24"/>
          <p:cNvSpPr txBox="1"/>
          <p:nvPr/>
        </p:nvSpPr>
        <p:spPr>
          <a:xfrm>
            <a:off x="1316355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Cada creador trae a otros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50000" t="100000" r="50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11 — NÚMEROS</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Números posibles </a:t>
            </a:r>
            <a:r>
              <a:rPr lang="es-AR" sz="6600" b="1" kern="0" spc="-200" dirty="0">
                <a:solidFill>
                  <a:srgbClr val="00E8C0"/>
                </a:solidFill>
                <a:latin typeface="Outfit" pitchFamily="34" charset="0"/>
                <a:ea typeface="Outfit" pitchFamily="34" charset="-122"/>
                <a:cs typeface="Outfit" pitchFamily="34" charset="-120"/>
              </a:rPr>
              <a:t>en el año 1.</a:t>
            </a:r>
          </a:p>
        </p:txBody>
      </p:sp>
      <p:sp>
        <p:nvSpPr>
          <p:cNvPr id="7" name="Text 7"/>
          <p:cNvSpPr txBox="1"/>
          <p:nvPr/>
        </p:nvSpPr>
        <p:spPr>
          <a:xfrm>
            <a:off x="11049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A9B8BE"/>
                </a:solidFill>
                <a:latin typeface="Outfit" pitchFamily="34" charset="0"/>
                <a:ea typeface="Outfit" pitchFamily="34" charset="-122"/>
                <a:cs typeface="Outfit" pitchFamily="34" charset="-120"/>
              </a:rPr>
              <a:t>CONSERVADOR</a:t>
            </a:r>
          </a:p>
        </p:txBody>
      </p:sp>
      <p:sp>
        <p:nvSpPr>
          <p:cNvPr id="8" name="Text 8"/>
          <p:cNvSpPr txBox="1"/>
          <p:nvPr/>
        </p:nvSpPr>
        <p:spPr>
          <a:xfrm>
            <a:off x="11049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667982"/>
                </a:solidFill>
                <a:latin typeface="Outfit" pitchFamily="34" charset="0"/>
                <a:ea typeface="Outfit" pitchFamily="34" charset="-122"/>
                <a:cs typeface="Outfit" pitchFamily="34" charset="-120"/>
              </a:rPr>
              <a:t>150</a:t>
            </a:r>
          </a:p>
        </p:txBody>
      </p:sp>
      <p:sp>
        <p:nvSpPr>
          <p:cNvPr id="9" name="Text 9"/>
          <p:cNvSpPr txBox="1"/>
          <p:nvPr/>
        </p:nvSpPr>
        <p:spPr>
          <a:xfrm>
            <a:off x="11049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A9B8BE"/>
                </a:solidFill>
                <a:latin typeface="Outfit" pitchFamily="34" charset="0"/>
                <a:ea typeface="Outfit" pitchFamily="34" charset="-122"/>
                <a:cs typeface="Outfit" pitchFamily="34" charset="-120"/>
              </a:rPr>
              <a:t>creadores</a:t>
            </a:r>
          </a:p>
        </p:txBody>
      </p:sp>
      <p:sp>
        <p:nvSpPr>
          <p:cNvPr id="10" name="Text 10"/>
          <p:cNvSpPr txBox="1"/>
          <p:nvPr/>
        </p:nvSpPr>
        <p:spPr>
          <a:xfrm>
            <a:off x="11049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0,5%</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$100</a:t>
            </a:r>
            <a:r>
              <a:rPr lang="es-AR" sz="2200" b="1" kern="0" dirty="0">
                <a:solidFill>
                  <a:srgbClr val="F2F7F7"/>
                </a:solidFill>
                <a:latin typeface="Outfit" pitchFamily="34" charset="0"/>
                <a:ea typeface="Outfit" pitchFamily="34" charset="-122"/>
                <a:cs typeface="Outfit" pitchFamily="34" charset="-120"/>
              </a:rPr>
              <a:t>k</a:t>
            </a:r>
            <a:r>
              <a:rPr lang="es-AR" sz="2200" b="1" kern="0" spc="0" dirty="0">
                <a:solidFill>
                  <a:srgbClr val="F2F7F7"/>
                </a:solidFill>
                <a:latin typeface="Outfit" pitchFamily="34" charset="0"/>
                <a:ea typeface="Outfit" pitchFamily="34" charset="-122"/>
                <a:cs typeface="Outfit" pitchFamily="34" charset="-120"/>
              </a:rPr>
              <a:t> </a:t>
            </a:r>
            <a:r>
              <a:rPr lang="es-AR" sz="2200" kern="0" spc="0" dirty="0">
                <a:solidFill>
                  <a:srgbClr val="A9B8BE"/>
                </a:solidFill>
                <a:latin typeface="Outfit" pitchFamily="34" charset="0"/>
                <a:ea typeface="Outfit" pitchFamily="34" charset="-122"/>
                <a:cs typeface="Outfit" pitchFamily="34" charset="-120"/>
              </a:rPr>
              <a:t>en ventas procesadas</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$1k </a:t>
            </a:r>
            <a:r>
              <a:rPr lang="es-AR" sz="2200" kern="0" spc="0" dirty="0">
                <a:solidFill>
                  <a:srgbClr val="A9B8BE"/>
                </a:solidFill>
                <a:latin typeface="Outfit" pitchFamily="34" charset="0"/>
                <a:ea typeface="Outfit" pitchFamily="34" charset="-122"/>
                <a:cs typeface="Outfit" pitchFamily="34" charset="-120"/>
              </a:rPr>
              <a:t>en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11" name="Shape 11"/>
          <p:cNvSpPr/>
          <p:nvPr/>
        </p:nvSpPr>
        <p:spPr>
          <a:xfrm>
            <a:off x="6229400" y="3300000"/>
            <a:ext cx="9525" cy="5400000"/>
          </a:xfrm>
          <a:prstGeom prst="rect">
            <a:avLst/>
          </a:prstGeom>
          <a:solidFill>
            <a:srgbClr val="234052"/>
          </a:solidFill>
          <a:ln/>
        </p:spPr>
        <p:txBody>
          <a:bodyPr/>
          <a:lstStyle/>
          <a:p>
            <a:endParaRPr lang="es-AR"/>
          </a:p>
        </p:txBody>
      </p:sp>
      <p:sp>
        <p:nvSpPr>
          <p:cNvPr id="12" name="Text 12"/>
          <p:cNvSpPr txBox="1"/>
          <p:nvPr/>
        </p:nvSpPr>
        <p:spPr>
          <a:xfrm>
            <a:off x="66294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BASE</a:t>
            </a:r>
          </a:p>
        </p:txBody>
      </p:sp>
      <p:sp>
        <p:nvSpPr>
          <p:cNvPr id="13" name="Text 13"/>
          <p:cNvSpPr txBox="1"/>
          <p:nvPr/>
        </p:nvSpPr>
        <p:spPr>
          <a:xfrm>
            <a:off x="66294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F2F7F7"/>
                </a:solidFill>
                <a:latin typeface="Outfit" pitchFamily="34" charset="0"/>
                <a:ea typeface="Outfit" pitchFamily="34" charset="-122"/>
                <a:cs typeface="Outfit" pitchFamily="34" charset="-120"/>
              </a:rPr>
              <a:t>300</a:t>
            </a:r>
          </a:p>
        </p:txBody>
      </p:sp>
      <p:sp>
        <p:nvSpPr>
          <p:cNvPr id="14" name="Text 14"/>
          <p:cNvSpPr txBox="1"/>
          <p:nvPr/>
        </p:nvSpPr>
        <p:spPr>
          <a:xfrm>
            <a:off x="66294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00D9B5"/>
                </a:solidFill>
                <a:latin typeface="Outfit" pitchFamily="34" charset="0"/>
                <a:ea typeface="Outfit" pitchFamily="34" charset="-122"/>
                <a:cs typeface="Outfit" pitchFamily="34" charset="-120"/>
              </a:rPr>
              <a:t>creadores</a:t>
            </a:r>
          </a:p>
        </p:txBody>
      </p:sp>
      <p:sp>
        <p:nvSpPr>
          <p:cNvPr id="15" name="Text 15"/>
          <p:cNvSpPr txBox="1"/>
          <p:nvPr/>
        </p:nvSpPr>
        <p:spPr>
          <a:xfrm>
            <a:off x="66294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$300k </a:t>
            </a:r>
            <a:r>
              <a:rPr lang="es-AR" sz="2200" kern="0" spc="0" dirty="0">
                <a:solidFill>
                  <a:srgbClr val="A9B8BE"/>
                </a:solidFill>
                <a:latin typeface="Outfit" pitchFamily="34" charset="0"/>
                <a:ea typeface="Outfit" pitchFamily="34" charset="-122"/>
                <a:cs typeface="Outfit" pitchFamily="34" charset="-120"/>
              </a:rPr>
              <a:t>en ventas procesadas</a:t>
            </a:r>
          </a:p>
          <a:p>
            <a:pPr>
              <a:spcAft>
                <a:spcPts val="900"/>
              </a:spcAft>
            </a:pPr>
            <a:r>
              <a:rPr lang="es-AR" sz="2200" b="1" kern="0" spc="0" dirty="0">
                <a:solidFill>
                  <a:srgbClr val="F2F7F7"/>
                </a:solidFill>
                <a:latin typeface="Outfit" pitchFamily="34" charset="0"/>
                <a:ea typeface="Outfit" pitchFamily="34" charset="-122"/>
                <a:cs typeface="Outfit" pitchFamily="34" charset="-120"/>
              </a:rPr>
              <a:t>$3K </a:t>
            </a:r>
            <a:r>
              <a:rPr lang="es-AR" sz="2200" kern="0" dirty="0">
                <a:solidFill>
                  <a:srgbClr val="A9B8BE"/>
                </a:solidFill>
                <a:latin typeface="Outfit" pitchFamily="34" charset="0"/>
                <a:ea typeface="Outfit" pitchFamily="34" charset="-122"/>
                <a:cs typeface="Outfit" pitchFamily="34" charset="-120"/>
              </a:rPr>
              <a:t>e</a:t>
            </a:r>
            <a:r>
              <a:rPr lang="es-AR" sz="2200" kern="0" spc="0" dirty="0">
                <a:solidFill>
                  <a:srgbClr val="A9B8BE"/>
                </a:solidFill>
                <a:latin typeface="Outfit" pitchFamily="34" charset="0"/>
                <a:ea typeface="Outfit" pitchFamily="34" charset="-122"/>
                <a:cs typeface="Outfit" pitchFamily="34" charset="-120"/>
              </a:rPr>
              <a:t> 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~100K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16" name="Shape 16"/>
          <p:cNvSpPr/>
          <p:nvPr/>
        </p:nvSpPr>
        <p:spPr>
          <a:xfrm>
            <a:off x="11753900" y="3300000"/>
            <a:ext cx="9525" cy="5400000"/>
          </a:xfrm>
          <a:prstGeom prst="rect">
            <a:avLst/>
          </a:prstGeom>
          <a:solidFill>
            <a:srgbClr val="234052"/>
          </a:solidFill>
          <a:ln/>
        </p:spPr>
        <p:txBody>
          <a:bodyPr/>
          <a:lstStyle/>
          <a:p>
            <a:endParaRPr lang="es-AR"/>
          </a:p>
        </p:txBody>
      </p:sp>
      <p:sp>
        <p:nvSpPr>
          <p:cNvPr id="17" name="Text 17"/>
          <p:cNvSpPr txBox="1"/>
          <p:nvPr/>
        </p:nvSpPr>
        <p:spPr>
          <a:xfrm>
            <a:off x="121539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A9B8BE"/>
                </a:solidFill>
                <a:latin typeface="Outfit" pitchFamily="34" charset="0"/>
                <a:ea typeface="Outfit" pitchFamily="34" charset="-122"/>
                <a:cs typeface="Outfit" pitchFamily="34" charset="-120"/>
              </a:rPr>
              <a:t>OPTIMISTA</a:t>
            </a:r>
          </a:p>
        </p:txBody>
      </p:sp>
      <p:sp>
        <p:nvSpPr>
          <p:cNvPr id="18" name="Text 18"/>
          <p:cNvSpPr txBox="1"/>
          <p:nvPr/>
        </p:nvSpPr>
        <p:spPr>
          <a:xfrm>
            <a:off x="121539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667982"/>
                </a:solidFill>
                <a:latin typeface="Outfit" pitchFamily="34" charset="0"/>
                <a:ea typeface="Outfit" pitchFamily="34" charset="-122"/>
                <a:cs typeface="Outfit" pitchFamily="34" charset="-120"/>
              </a:rPr>
              <a:t>900</a:t>
            </a:r>
          </a:p>
        </p:txBody>
      </p:sp>
      <p:sp>
        <p:nvSpPr>
          <p:cNvPr id="19" name="Text 19"/>
          <p:cNvSpPr txBox="1"/>
          <p:nvPr/>
        </p:nvSpPr>
        <p:spPr>
          <a:xfrm>
            <a:off x="121539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A9B8BE"/>
                </a:solidFill>
                <a:latin typeface="Outfit" pitchFamily="34" charset="0"/>
                <a:ea typeface="Outfit" pitchFamily="34" charset="-122"/>
                <a:cs typeface="Outfit" pitchFamily="34" charset="-120"/>
              </a:rPr>
              <a:t>creadores</a:t>
            </a:r>
          </a:p>
        </p:txBody>
      </p:sp>
      <p:sp>
        <p:nvSpPr>
          <p:cNvPr id="20" name="Text 20"/>
          <p:cNvSpPr txBox="1"/>
          <p:nvPr/>
        </p:nvSpPr>
        <p:spPr>
          <a:xfrm>
            <a:off x="121539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$500k</a:t>
            </a:r>
            <a:r>
              <a:rPr lang="es-AR" sz="2200" kern="0" spc="0" dirty="0">
                <a:solidFill>
                  <a:srgbClr val="A9B8BE"/>
                </a:solidFill>
                <a:latin typeface="Outfit" pitchFamily="34" charset="0"/>
                <a:ea typeface="Outfit" pitchFamily="34" charset="-122"/>
                <a:cs typeface="Outfit" pitchFamily="34" charset="-120"/>
              </a:rPr>
              <a:t> en ventas procesadas</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$5k</a:t>
            </a:r>
            <a:r>
              <a:rPr lang="es-AR" sz="2200" kern="0" spc="0" dirty="0">
                <a:solidFill>
                  <a:srgbClr val="A9B8BE"/>
                </a:solidFill>
                <a:latin typeface="Outfit" pitchFamily="34" charset="0"/>
                <a:ea typeface="Outfit" pitchFamily="34" charset="-122"/>
                <a:cs typeface="Outfit" pitchFamily="34" charset="-120"/>
              </a:rPr>
              <a:t> en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~300K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21" name="Text 21"/>
          <p:cNvSpPr txBox="1"/>
          <p:nvPr/>
        </p:nvSpPr>
        <p:spPr>
          <a:xfrm>
            <a:off x="1104900" y="9250000"/>
            <a:ext cx="16078200" cy="500000"/>
          </a:xfrm>
          <a:prstGeom prst="rect">
            <a:avLst/>
          </a:prstGeom>
          <a:noFill/>
          <a:ln/>
        </p:spPr>
        <p:txBody>
          <a:bodyPr wrap="square" lIns="25400" tIns="25400" rIns="25400" bIns="25400" rtlCol="0" anchor="t">
            <a:noAutofit/>
          </a:bodyPr>
          <a:lstStyle/>
          <a:p>
            <a:pPr marL="0" indent="0" algn="l">
              <a:buNone/>
            </a:pPr>
            <a:r>
              <a:rPr lang="es-AR" sz="1400" kern="0" spc="0" dirty="0">
                <a:solidFill>
                  <a:srgbClr val="A9B8BE"/>
                </a:solidFill>
                <a:latin typeface="Outfit" pitchFamily="34" charset="0"/>
                <a:ea typeface="Outfit" pitchFamily="34" charset="-122"/>
                <a:cs typeface="Outfit" pitchFamily="34" charset="-120"/>
              </a:rPr>
              <a:t>Supuestos: ~30.000 creadores en Tebex y ~$6.700 en ventas anuales por creador ($200M ÷ 30.000), ticket promedio de $20. Ejemplo ilustrativo, no una predicción.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1325</Words>
  <Application>Microsoft Office PowerPoint</Application>
  <PresentationFormat>Personalizado</PresentationFormat>
  <Paragraphs>125</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Outfit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Jaime Guantay</cp:lastModifiedBy>
  <cp:revision>4</cp:revision>
  <dcterms:created xsi:type="dcterms:W3CDTF">2026-09-24T04:41:00Z</dcterms:created>
  <dcterms:modified xsi:type="dcterms:W3CDTF">2026-09-27T22:22:40Z</dcterms:modified>
</cp:coreProperties>
</file>